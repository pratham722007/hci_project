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al Bold" charset="1" panose="020B0704020202020204"/>
      <p:regular r:id="rId15"/>
    </p:embeddedFont>
    <p:embeddedFont>
      <p:font typeface="Arial" charset="1" panose="020B0604020202020204"/>
      <p:regular r:id="rId16"/>
    </p:embeddedFont>
    <p:embeddedFont>
      <p:font typeface="Arial Bold Italics" charset="1" panose="020B0704020202090204"/>
      <p:regular r:id="rId17"/>
    </p:embeddedFont>
    <p:embeddedFont>
      <p:font typeface="Arial Italics" charset="1" panose="020B060402020209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DF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0595" y="703707"/>
            <a:ext cx="320802" cy="320802"/>
            <a:chOff x="0" y="0"/>
            <a:chExt cx="427736" cy="427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440180" y="630936"/>
            <a:ext cx="3017520" cy="466344"/>
            <a:chOff x="0" y="0"/>
            <a:chExt cx="4023360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23360" cy="621792"/>
            </a:xfrm>
            <a:custGeom>
              <a:avLst/>
              <a:gdLst/>
              <a:ahLst/>
              <a:cxnLst/>
              <a:rect r="r" b="b" t="t" l="l"/>
              <a:pathLst>
                <a:path h="62179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0233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1B1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H-CBM-EEG</a:t>
              </a:r>
            </a:p>
          </p:txBody>
        </p:sp>
      </p:grpSp>
      <p:sp>
        <p:nvSpPr>
          <p:cNvPr name="AutoShape 7" id="7"/>
          <p:cNvSpPr/>
          <p:nvPr/>
        </p:nvSpPr>
        <p:spPr>
          <a:xfrm rot="6600">
            <a:off x="4105265" y="859345"/>
            <a:ext cx="9894589" cy="0"/>
          </a:xfrm>
          <a:prstGeom prst="line">
            <a:avLst/>
          </a:prstGeom>
          <a:ln cap="rnd" w="9525">
            <a:solidFill>
              <a:srgbClr val="722F3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735175" y="580263"/>
            <a:ext cx="2597658" cy="567690"/>
            <a:chOff x="0" y="0"/>
            <a:chExt cx="3463544" cy="756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63544" cy="756920"/>
            </a:xfrm>
            <a:custGeom>
              <a:avLst/>
              <a:gdLst/>
              <a:ahLst/>
              <a:cxnLst/>
              <a:rect r="r" b="b" t="t" l="l"/>
              <a:pathLst>
                <a:path h="756920" w="3463544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3085084" y="0"/>
                  </a:lnTo>
                  <a:cubicBezTo>
                    <a:pt x="3294126" y="0"/>
                    <a:pt x="3463544" y="169418"/>
                    <a:pt x="3463544" y="378460"/>
                  </a:cubicBezTo>
                  <a:cubicBezTo>
                    <a:pt x="3463544" y="587502"/>
                    <a:pt x="3294126" y="756920"/>
                    <a:pt x="3085084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EFDFBB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44700" y="589788"/>
            <a:ext cx="2578608" cy="548640"/>
            <a:chOff x="0" y="0"/>
            <a:chExt cx="3438144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38144" cy="731520"/>
            </a:xfrm>
            <a:custGeom>
              <a:avLst/>
              <a:gdLst/>
              <a:ahLst/>
              <a:cxnLst/>
              <a:rect r="r" b="b" t="t" l="l"/>
              <a:pathLst>
                <a:path h="73152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79" r="0" b="-4157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438144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1B1B"/>
                  </a:solidFill>
                  <a:latin typeface="Arial"/>
                  <a:ea typeface="Arial"/>
                  <a:cs typeface="Arial"/>
                  <a:sym typeface="Arial"/>
                </a:rPr>
                <a:t>7 Oct 2026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0595" y="2116455"/>
            <a:ext cx="2076450" cy="211074"/>
            <a:chOff x="0" y="0"/>
            <a:chExt cx="2768600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68600" cy="281432"/>
            </a:xfrm>
            <a:custGeom>
              <a:avLst/>
              <a:gdLst/>
              <a:ahLst/>
              <a:cxnLst/>
              <a:rect r="r" b="b" t="t" l="l"/>
              <a:pathLst>
                <a:path h="281432" w="2768600">
                  <a:moveTo>
                    <a:pt x="0" y="0"/>
                  </a:moveTo>
                  <a:lnTo>
                    <a:pt x="2768600" y="0"/>
                  </a:lnTo>
                  <a:lnTo>
                    <a:pt x="2768600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60120" y="2665095"/>
            <a:ext cx="1234440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450">
                <a:solidFill>
                  <a:srgbClr val="60262D"/>
                </a:solidFill>
                <a:latin typeface="Arial Bold"/>
                <a:ea typeface="Arial Bold"/>
                <a:cs typeface="Arial Bold"/>
                <a:sym typeface="Arial Bold"/>
              </a:rPr>
              <a:t>EXPLAINABLE AI  ·  CLINICAL AI  ·  EEG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60120" y="3154680"/>
            <a:ext cx="12344400" cy="2606040"/>
            <a:chOff x="0" y="0"/>
            <a:chExt cx="16459200" cy="34747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592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16459200" cy="3550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0"/>
                </a:lnSpc>
              </a:pPr>
              <a:r>
                <a:rPr lang="en-US" sz="19500" b="true">
                  <a:solidFill>
                    <a:srgbClr val="722F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H-CBM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0120" y="5486400"/>
            <a:ext cx="12344400" cy="1920240"/>
            <a:chOff x="0" y="0"/>
            <a:chExt cx="16459200" cy="25603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4592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6459200" cy="261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0"/>
                </a:lnSpc>
              </a:pPr>
              <a:r>
                <a:rPr lang="en-US" sz="13500" b="true">
                  <a:solidFill>
                    <a:srgbClr val="722F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-EEG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54515" y="5408295"/>
            <a:ext cx="8842553" cy="2419350"/>
            <a:chOff x="0" y="0"/>
            <a:chExt cx="11790070" cy="3225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790045" cy="3225800"/>
            </a:xfrm>
            <a:custGeom>
              <a:avLst/>
              <a:gdLst/>
              <a:ahLst/>
              <a:cxnLst/>
              <a:rect r="r" b="b" t="t" l="l"/>
              <a:pathLst>
                <a:path h="3225800" w="11790045">
                  <a:moveTo>
                    <a:pt x="0" y="0"/>
                  </a:moveTo>
                  <a:lnTo>
                    <a:pt x="11790045" y="0"/>
                  </a:lnTo>
                  <a:lnTo>
                    <a:pt x="11790045" y="3225800"/>
                  </a:lnTo>
                  <a:lnTo>
                    <a:pt x="0" y="3225800"/>
                  </a:ln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012680" y="5554980"/>
            <a:ext cx="7543800" cy="2125980"/>
            <a:chOff x="0" y="0"/>
            <a:chExt cx="10058400" cy="2834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40" r="0" b="-1914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0058400" cy="2863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 i="true">
                  <a:solidFill>
                    <a:srgbClr val="FFFFFF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Hierarchical Concept Bottleneck Model for Trustworthy EEG-to-Emotion LLMs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505188" y="7971282"/>
            <a:ext cx="7818120" cy="224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722F37"/>
                </a:solidFill>
                <a:latin typeface="Arial Bold"/>
                <a:ea typeface="Arial Bold"/>
                <a:cs typeface="Arial Bold"/>
                <a:sym typeface="Arial Bold"/>
              </a:rPr>
              <a:t>Domain: </a:t>
            </a:r>
            <a:r>
              <a:rPr lang="en-US" sz="2999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Explainable AI + Clinical AI + EEG Emotion Recognition</a:t>
            </a:r>
          </a:p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722F37"/>
                </a:solidFill>
                <a:latin typeface="Arial Bold"/>
                <a:ea typeface="Arial Bold"/>
                <a:cs typeface="Arial Bold"/>
                <a:sym typeface="Arial Bold"/>
              </a:rPr>
              <a:t>Motivation: </a:t>
            </a:r>
            <a:r>
              <a:rPr lang="en-US" sz="2999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Building clinically trustworthy AI that not only predicts emotions from EEG signals but also explains why.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DF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641997" y="9450863"/>
            <a:ext cx="1303499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 b="true">
                <a:solidFill>
                  <a:srgbClr val="722F37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82627" y="261630"/>
            <a:ext cx="16322040" cy="1026877"/>
            <a:chOff x="0" y="0"/>
            <a:chExt cx="21762720" cy="13691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62720" cy="1369169"/>
            </a:xfrm>
            <a:custGeom>
              <a:avLst/>
              <a:gdLst/>
              <a:ahLst/>
              <a:cxnLst/>
              <a:rect r="r" b="b" t="t" l="l"/>
              <a:pathLst>
                <a:path h="1369169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369169"/>
                  </a:lnTo>
                  <a:lnTo>
                    <a:pt x="0" y="13691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962" r="0" b="-256461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1762720" cy="1388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b="true" sz="4999" i="true">
                  <a:solidFill>
                    <a:srgbClr val="722F37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Research Problem Clarity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2627" y="1079537"/>
            <a:ext cx="17262868" cy="967326"/>
            <a:chOff x="0" y="0"/>
            <a:chExt cx="23017158" cy="12897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17158" cy="1289768"/>
            </a:xfrm>
            <a:custGeom>
              <a:avLst/>
              <a:gdLst/>
              <a:ahLst/>
              <a:cxnLst/>
              <a:rect r="r" b="b" t="t" l="l"/>
              <a:pathLst>
                <a:path h="1289768" w="23017158">
                  <a:moveTo>
                    <a:pt x="0" y="0"/>
                  </a:moveTo>
                  <a:lnTo>
                    <a:pt x="23017158" y="0"/>
                  </a:lnTo>
                  <a:lnTo>
                    <a:pt x="23017158" y="1289768"/>
                  </a:lnTo>
                  <a:lnTo>
                    <a:pt x="0" y="1289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964" r="5450" b="-2535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3017158" cy="13088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1B1B1B"/>
                  </a:solidFill>
                  <a:latin typeface="Arial"/>
                  <a:ea typeface="Arial"/>
                  <a:cs typeface="Arial"/>
                  <a:sym typeface="Arial"/>
                </a:rPr>
                <a:t>EEG-to-LLM systems can predict emotions and explain them from brain signals, yet three critical challenges remain.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42504" y="2478049"/>
            <a:ext cx="5685108" cy="3993063"/>
            <a:chOff x="0" y="0"/>
            <a:chExt cx="7066280" cy="4963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66280" cy="4963160"/>
            </a:xfrm>
            <a:custGeom>
              <a:avLst/>
              <a:gdLst/>
              <a:ahLst/>
              <a:cxnLst/>
              <a:rect r="r" b="b" t="t" l="l"/>
              <a:pathLst>
                <a:path h="4963160" w="706628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6845681" y="0"/>
                  </a:lnTo>
                  <a:cubicBezTo>
                    <a:pt x="6967475" y="0"/>
                    <a:pt x="7066280" y="98806"/>
                    <a:pt x="7066280" y="220599"/>
                  </a:cubicBezTo>
                  <a:lnTo>
                    <a:pt x="7066280" y="4742561"/>
                  </a:lnTo>
                  <a:cubicBezTo>
                    <a:pt x="7066280" y="4864354"/>
                    <a:pt x="6967475" y="4963160"/>
                    <a:pt x="6845681" y="4963160"/>
                  </a:cubicBezTo>
                  <a:lnTo>
                    <a:pt x="220599" y="4963160"/>
                  </a:lnTo>
                  <a:cubicBezTo>
                    <a:pt x="98806" y="4963160"/>
                    <a:pt x="0" y="4864354"/>
                    <a:pt x="0" y="4742561"/>
                  </a:cubicBez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07786" y="2034091"/>
            <a:ext cx="908350" cy="908350"/>
            <a:chOff x="0" y="0"/>
            <a:chExt cx="1129030" cy="11290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9030" cy="1129030"/>
            </a:xfrm>
            <a:custGeom>
              <a:avLst/>
              <a:gdLst/>
              <a:ahLst/>
              <a:cxnLst/>
              <a:rect r="r" b="b" t="t" l="l"/>
              <a:pathLst>
                <a:path h="1129030" w="1129030">
                  <a:moveTo>
                    <a:pt x="0" y="564515"/>
                  </a:moveTo>
                  <a:cubicBezTo>
                    <a:pt x="0" y="252730"/>
                    <a:pt x="252730" y="0"/>
                    <a:pt x="564515" y="0"/>
                  </a:cubicBezTo>
                  <a:cubicBezTo>
                    <a:pt x="876300" y="0"/>
                    <a:pt x="1129030" y="252730"/>
                    <a:pt x="1129030" y="564515"/>
                  </a:cubicBezTo>
                  <a:cubicBezTo>
                    <a:pt x="1129030" y="876300"/>
                    <a:pt x="876300" y="1129030"/>
                    <a:pt x="564515" y="1129030"/>
                  </a:cubicBezTo>
                  <a:cubicBezTo>
                    <a:pt x="252730" y="1129030"/>
                    <a:pt x="0" y="876300"/>
                    <a:pt x="0" y="564515"/>
                  </a:cubicBezTo>
                  <a:close/>
                </a:path>
              </a:pathLst>
            </a:custGeom>
            <a:solidFill>
              <a:srgbClr val="EFDFBB"/>
            </a:solidFill>
            <a:ln w="23812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20558" y="2046863"/>
            <a:ext cx="882806" cy="882806"/>
            <a:chOff x="0" y="0"/>
            <a:chExt cx="109728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722F37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4125" y="3150371"/>
            <a:ext cx="4781867" cy="662105"/>
            <a:chOff x="0" y="0"/>
            <a:chExt cx="5943600" cy="822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43600" cy="822960"/>
            </a:xfrm>
            <a:custGeom>
              <a:avLst/>
              <a:gdLst/>
              <a:ahLst/>
              <a:cxnLst/>
              <a:rect r="r" b="b" t="t" l="l"/>
              <a:pathLst>
                <a:path h="8229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594360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Hallucinated Explanations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94125" y="3940560"/>
            <a:ext cx="4781867" cy="201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337" indent="-242669" lvl="1">
              <a:lnSpc>
                <a:spcPts val="3218"/>
              </a:lnSpc>
              <a:buFont typeface="Arial"/>
              <a:buChar char="•"/>
            </a:pPr>
            <a:r>
              <a:rPr lang="en-US" sz="268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Explanations may sound convincing</a:t>
            </a:r>
          </a:p>
          <a:p>
            <a:pPr algn="l" marL="485337" indent="-242669" lvl="1">
              <a:lnSpc>
                <a:spcPts val="3218"/>
              </a:lnSpc>
              <a:buFont typeface="Arial"/>
              <a:buChar char="•"/>
            </a:pPr>
            <a:r>
              <a:rPr lang="en-US" sz="268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 guaranteed to be grounded in EEG evidence</a:t>
            </a:r>
          </a:p>
          <a:p>
            <a:pPr algn="l" marL="485337" indent="-242669" lvl="1">
              <a:lnSpc>
                <a:spcPts val="3218"/>
              </a:lnSpc>
              <a:buFont typeface="Arial"/>
              <a:buChar char="•"/>
            </a:pPr>
            <a:r>
              <a:rPr lang="en-US" sz="268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way to verify faithfulness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298891" y="2475494"/>
            <a:ext cx="5690217" cy="3998172"/>
            <a:chOff x="0" y="0"/>
            <a:chExt cx="7072630" cy="49695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72630" cy="4969510"/>
            </a:xfrm>
            <a:custGeom>
              <a:avLst/>
              <a:gdLst/>
              <a:ahLst/>
              <a:cxnLst/>
              <a:rect r="r" b="b" t="t" l="l"/>
              <a:pathLst>
                <a:path h="4969510" w="707263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851777" y="0"/>
                  </a:lnTo>
                  <a:cubicBezTo>
                    <a:pt x="6973697" y="0"/>
                    <a:pt x="7072630" y="98933"/>
                    <a:pt x="7072630" y="220853"/>
                  </a:cubicBezTo>
                  <a:lnTo>
                    <a:pt x="7072630" y="4748657"/>
                  </a:lnTo>
                  <a:cubicBezTo>
                    <a:pt x="7072630" y="4870577"/>
                    <a:pt x="6973697" y="4969510"/>
                    <a:pt x="6851777" y="4969510"/>
                  </a:cubicBezTo>
                  <a:lnTo>
                    <a:pt x="220853" y="4969510"/>
                  </a:lnTo>
                  <a:cubicBezTo>
                    <a:pt x="98933" y="4969510"/>
                    <a:pt x="0" y="4870577"/>
                    <a:pt x="0" y="4748657"/>
                  </a:cubicBezTo>
                  <a:close/>
                </a:path>
              </a:pathLst>
            </a:custGeom>
            <a:solidFill>
              <a:srgbClr val="EFDFBB"/>
            </a:solidFill>
            <a:ln w="23812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666727" y="2034091"/>
            <a:ext cx="908350" cy="908350"/>
            <a:chOff x="0" y="0"/>
            <a:chExt cx="1129030" cy="11290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9030" cy="1129030"/>
            </a:xfrm>
            <a:custGeom>
              <a:avLst/>
              <a:gdLst/>
              <a:ahLst/>
              <a:cxnLst/>
              <a:rect r="r" b="b" t="t" l="l"/>
              <a:pathLst>
                <a:path h="1129030" w="1129030">
                  <a:moveTo>
                    <a:pt x="0" y="564515"/>
                  </a:moveTo>
                  <a:cubicBezTo>
                    <a:pt x="0" y="252730"/>
                    <a:pt x="252730" y="0"/>
                    <a:pt x="564515" y="0"/>
                  </a:cubicBezTo>
                  <a:cubicBezTo>
                    <a:pt x="876300" y="0"/>
                    <a:pt x="1129030" y="252730"/>
                    <a:pt x="1129030" y="564515"/>
                  </a:cubicBezTo>
                  <a:cubicBezTo>
                    <a:pt x="1129030" y="876300"/>
                    <a:pt x="876300" y="1129030"/>
                    <a:pt x="564515" y="1129030"/>
                  </a:cubicBezTo>
                  <a:cubicBezTo>
                    <a:pt x="252730" y="1129030"/>
                    <a:pt x="0" y="876300"/>
                    <a:pt x="0" y="564515"/>
                  </a:cubicBezTo>
                  <a:close/>
                </a:path>
              </a:pathLst>
            </a:custGeom>
            <a:solidFill>
              <a:srgbClr val="EFDFBB"/>
            </a:solidFill>
            <a:ln w="23812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679499" y="2046863"/>
            <a:ext cx="882806" cy="882806"/>
            <a:chOff x="0" y="0"/>
            <a:chExt cx="109728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722F37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753067" y="3150371"/>
            <a:ext cx="4781867" cy="662105"/>
            <a:chOff x="0" y="0"/>
            <a:chExt cx="5943600" cy="822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43600" cy="822960"/>
            </a:xfrm>
            <a:custGeom>
              <a:avLst/>
              <a:gdLst/>
              <a:ahLst/>
              <a:cxnLst/>
              <a:rect r="r" b="b" t="t" l="l"/>
              <a:pathLst>
                <a:path h="8229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594360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722F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Black-Box Architecture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666727" y="3722137"/>
            <a:ext cx="4781867" cy="2409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337" indent="-242669" lvl="1">
              <a:lnSpc>
                <a:spcPts val="3218"/>
              </a:lnSpc>
              <a:buFont typeface="Arial"/>
              <a:buChar char="•"/>
            </a:pPr>
            <a:r>
              <a:rPr lang="en-US" sz="2681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Opaque MLP projection layer</a:t>
            </a:r>
          </a:p>
          <a:p>
            <a:pPr algn="l" marL="485337" indent="-242669" lvl="1">
              <a:lnSpc>
                <a:spcPts val="3218"/>
              </a:lnSpc>
              <a:buFont typeface="Arial"/>
              <a:buChar char="•"/>
            </a:pPr>
            <a:r>
              <a:rPr lang="en-US" sz="2681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Clinicians cannot see intermediate reasoning</a:t>
            </a:r>
          </a:p>
          <a:p>
            <a:pPr algn="l" marL="485337" indent="-242669" lvl="1">
              <a:lnSpc>
                <a:spcPts val="3218"/>
              </a:lnSpc>
              <a:buFont typeface="Arial"/>
              <a:buChar char="•"/>
            </a:pPr>
            <a:r>
              <a:rPr lang="en-US" sz="2681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No interpretable psychological concepts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260387" y="2478049"/>
            <a:ext cx="5685108" cy="3993063"/>
            <a:chOff x="0" y="0"/>
            <a:chExt cx="7066280" cy="4963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66280" cy="4963160"/>
            </a:xfrm>
            <a:custGeom>
              <a:avLst/>
              <a:gdLst/>
              <a:ahLst/>
              <a:cxnLst/>
              <a:rect r="r" b="b" t="t" l="l"/>
              <a:pathLst>
                <a:path h="4963160" w="706628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6845681" y="0"/>
                  </a:lnTo>
                  <a:cubicBezTo>
                    <a:pt x="6967475" y="0"/>
                    <a:pt x="7066280" y="98806"/>
                    <a:pt x="7066280" y="220599"/>
                  </a:cubicBezTo>
                  <a:lnTo>
                    <a:pt x="7066280" y="4742561"/>
                  </a:lnTo>
                  <a:cubicBezTo>
                    <a:pt x="7066280" y="4864354"/>
                    <a:pt x="6967475" y="4963160"/>
                    <a:pt x="6845681" y="4963160"/>
                  </a:cubicBezTo>
                  <a:lnTo>
                    <a:pt x="220599" y="4963160"/>
                  </a:lnTo>
                  <a:cubicBezTo>
                    <a:pt x="98806" y="4963160"/>
                    <a:pt x="0" y="4864354"/>
                    <a:pt x="0" y="4742561"/>
                  </a:cubicBez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625669" y="2034091"/>
            <a:ext cx="908350" cy="908350"/>
            <a:chOff x="0" y="0"/>
            <a:chExt cx="1129030" cy="112903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29030" cy="1129030"/>
            </a:xfrm>
            <a:custGeom>
              <a:avLst/>
              <a:gdLst/>
              <a:ahLst/>
              <a:cxnLst/>
              <a:rect r="r" b="b" t="t" l="l"/>
              <a:pathLst>
                <a:path h="1129030" w="1129030">
                  <a:moveTo>
                    <a:pt x="0" y="564515"/>
                  </a:moveTo>
                  <a:cubicBezTo>
                    <a:pt x="0" y="252730"/>
                    <a:pt x="252730" y="0"/>
                    <a:pt x="564515" y="0"/>
                  </a:cubicBezTo>
                  <a:cubicBezTo>
                    <a:pt x="876300" y="0"/>
                    <a:pt x="1129030" y="252730"/>
                    <a:pt x="1129030" y="564515"/>
                  </a:cubicBezTo>
                  <a:cubicBezTo>
                    <a:pt x="1129030" y="876300"/>
                    <a:pt x="876300" y="1129030"/>
                    <a:pt x="564515" y="1129030"/>
                  </a:cubicBezTo>
                  <a:cubicBezTo>
                    <a:pt x="252730" y="1129030"/>
                    <a:pt x="0" y="876300"/>
                    <a:pt x="0" y="564515"/>
                  </a:cubicBezTo>
                  <a:close/>
                </a:path>
              </a:pathLst>
            </a:custGeom>
            <a:solidFill>
              <a:srgbClr val="EFDFBB"/>
            </a:solidFill>
            <a:ln w="23812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638441" y="2046863"/>
            <a:ext cx="882806" cy="882806"/>
            <a:chOff x="0" y="0"/>
            <a:chExt cx="109728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722F37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712008" y="3150371"/>
            <a:ext cx="4781867" cy="662105"/>
            <a:chOff x="0" y="0"/>
            <a:chExt cx="5943600" cy="822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43600" cy="822960"/>
            </a:xfrm>
            <a:custGeom>
              <a:avLst/>
              <a:gdLst/>
              <a:ahLst/>
              <a:cxnLst/>
              <a:rect r="r" b="b" t="t" l="l"/>
              <a:pathLst>
                <a:path h="8229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594360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 Human Validation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712008" y="3940560"/>
            <a:ext cx="4781867" cy="201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337" indent="-242669" lvl="1">
              <a:lnSpc>
                <a:spcPts val="3218"/>
              </a:lnSpc>
              <a:buFont typeface="Arial"/>
              <a:buChar char="•"/>
            </a:pPr>
            <a:r>
              <a:rPr lang="en-US" sz="268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Only automated metrics used</a:t>
            </a:r>
          </a:p>
          <a:p>
            <a:pPr algn="l" marL="485337" indent="-242669" lvl="1">
              <a:lnSpc>
                <a:spcPts val="3218"/>
              </a:lnSpc>
              <a:buFont typeface="Arial"/>
              <a:buChar char="•"/>
            </a:pPr>
            <a:r>
              <a:rPr lang="en-US" sz="268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expert trustworthiness evaluation</a:t>
            </a:r>
          </a:p>
          <a:p>
            <a:pPr algn="l" marL="485337" indent="-242669" lvl="1">
              <a:lnSpc>
                <a:spcPts val="3218"/>
              </a:lnSpc>
              <a:buFont typeface="Arial"/>
              <a:buChar char="•"/>
            </a:pPr>
            <a:r>
              <a:rPr lang="en-US" sz="268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Limited clinical applicability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342504" y="6930866"/>
            <a:ext cx="17151371" cy="2034222"/>
            <a:chOff x="0" y="0"/>
            <a:chExt cx="21854820" cy="259207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854795" cy="2592070"/>
            </a:xfrm>
            <a:custGeom>
              <a:avLst/>
              <a:gdLst/>
              <a:ahLst/>
              <a:cxnLst/>
              <a:rect r="r" b="b" t="t" l="l"/>
              <a:pathLst>
                <a:path h="2592070" w="21854795">
                  <a:moveTo>
                    <a:pt x="0" y="222123"/>
                  </a:moveTo>
                  <a:cubicBezTo>
                    <a:pt x="0" y="99441"/>
                    <a:pt x="99441" y="0"/>
                    <a:pt x="222123" y="0"/>
                  </a:cubicBezTo>
                  <a:lnTo>
                    <a:pt x="21632672" y="0"/>
                  </a:lnTo>
                  <a:cubicBezTo>
                    <a:pt x="21755354" y="0"/>
                    <a:pt x="21854795" y="99441"/>
                    <a:pt x="21854795" y="222123"/>
                  </a:cubicBezTo>
                  <a:lnTo>
                    <a:pt x="21854795" y="2369947"/>
                  </a:lnTo>
                  <a:cubicBezTo>
                    <a:pt x="21854795" y="2492629"/>
                    <a:pt x="21755354" y="2592070"/>
                    <a:pt x="21632672" y="2592070"/>
                  </a:cubicBezTo>
                  <a:lnTo>
                    <a:pt x="222123" y="2592070"/>
                  </a:lnTo>
                  <a:cubicBezTo>
                    <a:pt x="99441" y="2592070"/>
                    <a:pt x="0" y="2492629"/>
                    <a:pt x="0" y="2369947"/>
                  </a:cubicBezTo>
                  <a:close/>
                </a:path>
              </a:pathLst>
            </a:custGeom>
            <a:solidFill>
              <a:srgbClr val="F4E8CD"/>
            </a:solidFill>
            <a:ln w="23812" cap="sq">
              <a:solidFill>
                <a:srgbClr val="722F37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785528" y="7211318"/>
            <a:ext cx="4305653" cy="39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3"/>
              </a:lnSpc>
            </a:pPr>
            <a:r>
              <a:rPr lang="en-US" b="true" sz="2511" spc="627">
                <a:solidFill>
                  <a:srgbClr val="722F37"/>
                </a:solidFill>
                <a:latin typeface="Arial Bold"/>
                <a:ea typeface="Arial Bold"/>
                <a:cs typeface="Arial Bold"/>
                <a:sym typeface="Arial Bold"/>
              </a:rPr>
              <a:t>RESEARCH GAP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85528" y="7713645"/>
            <a:ext cx="7606654" cy="1185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9"/>
              </a:lnSpc>
            </a:pPr>
            <a:r>
              <a:rPr lang="en-US" sz="2615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No existing EEG-LLM framework provides all three at once, a gap identified in current EEG-LLM literature.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386868" y="7220402"/>
            <a:ext cx="737542" cy="737542"/>
            <a:chOff x="0" y="0"/>
            <a:chExt cx="939800" cy="939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396835" y="7230368"/>
            <a:ext cx="717609" cy="717609"/>
            <a:chOff x="0" y="0"/>
            <a:chExt cx="914400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8607465" y="8072449"/>
            <a:ext cx="2368109" cy="776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3"/>
              </a:lnSpc>
            </a:pPr>
            <a:r>
              <a:rPr lang="en-US" sz="2511" b="true">
                <a:solidFill>
                  <a:srgbClr val="60262D"/>
                </a:solidFill>
                <a:latin typeface="Arial Bold"/>
                <a:ea typeface="Arial Bold"/>
                <a:cs typeface="Arial Bold"/>
                <a:sym typeface="Arial Bold"/>
              </a:rPr>
              <a:t>Interpretable reasoning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2329064" y="7220402"/>
            <a:ext cx="737542" cy="737542"/>
            <a:chOff x="0" y="0"/>
            <a:chExt cx="939800" cy="939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2339031" y="7230368"/>
            <a:ext cx="717609" cy="717609"/>
            <a:chOff x="0" y="0"/>
            <a:chExt cx="91440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1549661" y="8072449"/>
            <a:ext cx="2368109" cy="776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3"/>
              </a:lnSpc>
            </a:pPr>
            <a:r>
              <a:rPr lang="en-US" sz="2511" b="true">
                <a:solidFill>
                  <a:srgbClr val="60262D"/>
                </a:solidFill>
                <a:latin typeface="Arial Bold"/>
                <a:ea typeface="Arial Bold"/>
                <a:cs typeface="Arial Bold"/>
                <a:sym typeface="Arial Bold"/>
              </a:rPr>
              <a:t>Faithfulness verification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5271261" y="7220402"/>
            <a:ext cx="737542" cy="737542"/>
            <a:chOff x="0" y="0"/>
            <a:chExt cx="939800" cy="939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5281228" y="7230368"/>
            <a:ext cx="717609" cy="717609"/>
            <a:chOff x="0" y="0"/>
            <a:chExt cx="914400" cy="914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4491858" y="8072449"/>
            <a:ext cx="2368109" cy="776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3"/>
              </a:lnSpc>
            </a:pPr>
            <a:r>
              <a:rPr lang="en-US" sz="2511" b="true">
                <a:solidFill>
                  <a:srgbClr val="60262D"/>
                </a:solidFill>
                <a:latin typeface="Arial Bold"/>
                <a:ea typeface="Arial Bold"/>
                <a:cs typeface="Arial Bold"/>
                <a:sym typeface="Arial Bold"/>
              </a:rPr>
              <a:t>Human-in-the-loop validation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DF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152178" y="9643910"/>
            <a:ext cx="58978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 b="true">
                <a:solidFill>
                  <a:srgbClr val="722F37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2483" y="419100"/>
            <a:ext cx="16322040" cy="1219144"/>
            <a:chOff x="0" y="0"/>
            <a:chExt cx="21762720" cy="16255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62720" cy="1625526"/>
            </a:xfrm>
            <a:custGeom>
              <a:avLst/>
              <a:gdLst/>
              <a:ahLst/>
              <a:cxnLst/>
              <a:rect r="r" b="b" t="t" l="l"/>
              <a:pathLst>
                <a:path h="1625526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25526"/>
                  </a:lnTo>
                  <a:lnTo>
                    <a:pt x="0" y="16255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491" r="0" b="-20024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762720" cy="16541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80"/>
                </a:lnSpc>
              </a:pPr>
              <a:r>
                <a:rPr lang="en-US" b="true" sz="5900" i="true">
                  <a:solidFill>
                    <a:srgbClr val="722F37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Proposed Idea: H-CBM-EEG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28540" y="1638244"/>
            <a:ext cx="9201597" cy="839856"/>
            <a:chOff x="0" y="0"/>
            <a:chExt cx="10697336" cy="976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97336" cy="976376"/>
            </a:xfrm>
            <a:custGeom>
              <a:avLst/>
              <a:gdLst/>
              <a:ahLst/>
              <a:cxnLst/>
              <a:rect r="r" b="b" t="t" l="l"/>
              <a:pathLst>
                <a:path h="976376" w="10697336">
                  <a:moveTo>
                    <a:pt x="0" y="225298"/>
                  </a:moveTo>
                  <a:cubicBezTo>
                    <a:pt x="0" y="100838"/>
                    <a:pt x="93419" y="0"/>
                    <a:pt x="208723" y="0"/>
                  </a:cubicBezTo>
                  <a:lnTo>
                    <a:pt x="10488613" y="0"/>
                  </a:lnTo>
                  <a:cubicBezTo>
                    <a:pt x="10603917" y="0"/>
                    <a:pt x="10697336" y="100838"/>
                    <a:pt x="10697336" y="225298"/>
                  </a:cubicBezTo>
                  <a:lnTo>
                    <a:pt x="10697336" y="751078"/>
                  </a:lnTo>
                  <a:cubicBezTo>
                    <a:pt x="10697336" y="875538"/>
                    <a:pt x="10603917" y="976376"/>
                    <a:pt x="10488613" y="976376"/>
                  </a:cubicBezTo>
                  <a:lnTo>
                    <a:pt x="208723" y="976376"/>
                  </a:lnTo>
                  <a:cubicBezTo>
                    <a:pt x="93419" y="976376"/>
                    <a:pt x="0" y="875538"/>
                    <a:pt x="0" y="751078"/>
                  </a:cubicBez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84397" y="1649169"/>
            <a:ext cx="8889885" cy="818007"/>
            <a:chOff x="0" y="0"/>
            <a:chExt cx="10334954" cy="9509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34954" cy="950976"/>
            </a:xfrm>
            <a:custGeom>
              <a:avLst/>
              <a:gdLst/>
              <a:ahLst/>
              <a:cxnLst/>
              <a:rect r="r" b="b" t="t" l="l"/>
              <a:pathLst>
                <a:path h="950976" w="10334954">
                  <a:moveTo>
                    <a:pt x="0" y="0"/>
                  </a:moveTo>
                  <a:lnTo>
                    <a:pt x="10334954" y="0"/>
                  </a:lnTo>
                  <a:lnTo>
                    <a:pt x="10334954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574" r="-7941" b="-17857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0334954" cy="9795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499"/>
                </a:lnSpc>
              </a:pPr>
              <a:r>
                <a:rPr lang="en-US" sz="37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EEG Signal → EEGPT Encoder (frozen)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4914153" y="2450792"/>
            <a:ext cx="30362" cy="253000"/>
          </a:xfrm>
          <a:prstGeom prst="line">
            <a:avLst/>
          </a:prstGeom>
          <a:ln cap="rnd" w="19050">
            <a:solidFill>
              <a:srgbClr val="722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333601" y="2681946"/>
            <a:ext cx="9191477" cy="828931"/>
            <a:chOff x="0" y="0"/>
            <a:chExt cx="10685570" cy="9636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85570" cy="963676"/>
            </a:xfrm>
            <a:custGeom>
              <a:avLst/>
              <a:gdLst/>
              <a:ahLst/>
              <a:cxnLst/>
              <a:rect r="r" b="b" t="t" l="l"/>
              <a:pathLst>
                <a:path h="963676" w="10685570">
                  <a:moveTo>
                    <a:pt x="0" y="222377"/>
                  </a:moveTo>
                  <a:cubicBezTo>
                    <a:pt x="0" y="99568"/>
                    <a:pt x="92243" y="0"/>
                    <a:pt x="206017" y="0"/>
                  </a:cubicBezTo>
                  <a:lnTo>
                    <a:pt x="10479553" y="0"/>
                  </a:lnTo>
                  <a:cubicBezTo>
                    <a:pt x="10593327" y="0"/>
                    <a:pt x="10685570" y="99568"/>
                    <a:pt x="10685570" y="222377"/>
                  </a:cubicBezTo>
                  <a:lnTo>
                    <a:pt x="10685570" y="741299"/>
                  </a:lnTo>
                  <a:cubicBezTo>
                    <a:pt x="10685570" y="864108"/>
                    <a:pt x="10593327" y="963676"/>
                    <a:pt x="10479553" y="963676"/>
                  </a:cubicBezTo>
                  <a:lnTo>
                    <a:pt x="206017" y="963676"/>
                  </a:lnTo>
                  <a:cubicBezTo>
                    <a:pt x="92243" y="963676"/>
                    <a:pt x="0" y="864108"/>
                    <a:pt x="0" y="741299"/>
                  </a:cubicBezTo>
                  <a:close/>
                </a:path>
              </a:pathLst>
            </a:custGeom>
            <a:solidFill>
              <a:srgbClr val="F4E8CD"/>
            </a:solidFill>
            <a:ln w="9525" cap="sq">
              <a:solidFill>
                <a:srgbClr val="F4E8C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84397" y="2686177"/>
            <a:ext cx="8889885" cy="945532"/>
            <a:chOff x="0" y="0"/>
            <a:chExt cx="10334954" cy="10992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34954" cy="1099230"/>
            </a:xfrm>
            <a:custGeom>
              <a:avLst/>
              <a:gdLst/>
              <a:ahLst/>
              <a:cxnLst/>
              <a:rect r="r" b="b" t="t" l="l"/>
              <a:pathLst>
                <a:path h="1099230" w="10334954">
                  <a:moveTo>
                    <a:pt x="0" y="0"/>
                  </a:moveTo>
                  <a:lnTo>
                    <a:pt x="10334954" y="0"/>
                  </a:lnTo>
                  <a:lnTo>
                    <a:pt x="10334954" y="1099230"/>
                  </a:lnTo>
                  <a:lnTo>
                    <a:pt x="0" y="10992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490" r="-7941" b="-14100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0334954" cy="1118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79"/>
                </a:lnSpc>
              </a:pPr>
              <a:r>
                <a:rPr lang="en-US" sz="2649" b="true">
                  <a:solidFill>
                    <a:srgbClr val="1B1B1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Level 1 · Neurophysiological</a:t>
              </a:r>
              <a:r>
                <a:rPr lang="en-US" sz="2649">
                  <a:solidFill>
                    <a:srgbClr val="1B1B1B"/>
                  </a:solidFill>
                  <a:latin typeface="Arial"/>
                  <a:ea typeface="Arial"/>
                  <a:cs typeface="Arial"/>
                  <a:sym typeface="Arial"/>
                </a:rPr>
                <a:t>  Alpha · Theta · Gamma · Asymmetry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4914153" y="3489032"/>
            <a:ext cx="30362" cy="253000"/>
          </a:xfrm>
          <a:prstGeom prst="line">
            <a:avLst/>
          </a:prstGeom>
          <a:ln cap="rnd" w="19050">
            <a:solidFill>
              <a:srgbClr val="722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8" id="18"/>
          <p:cNvGrpSpPr/>
          <p:nvPr/>
        </p:nvGrpSpPr>
        <p:grpSpPr>
          <a:xfrm rot="0">
            <a:off x="333601" y="3720186"/>
            <a:ext cx="9191477" cy="828931"/>
            <a:chOff x="0" y="0"/>
            <a:chExt cx="10685570" cy="9636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85570" cy="963676"/>
            </a:xfrm>
            <a:custGeom>
              <a:avLst/>
              <a:gdLst/>
              <a:ahLst/>
              <a:cxnLst/>
              <a:rect r="r" b="b" t="t" l="l"/>
              <a:pathLst>
                <a:path h="963676" w="10685570">
                  <a:moveTo>
                    <a:pt x="0" y="222377"/>
                  </a:moveTo>
                  <a:cubicBezTo>
                    <a:pt x="0" y="99568"/>
                    <a:pt x="92243" y="0"/>
                    <a:pt x="206017" y="0"/>
                  </a:cubicBezTo>
                  <a:lnTo>
                    <a:pt x="10479553" y="0"/>
                  </a:lnTo>
                  <a:cubicBezTo>
                    <a:pt x="10593327" y="0"/>
                    <a:pt x="10685570" y="99568"/>
                    <a:pt x="10685570" y="222377"/>
                  </a:cubicBezTo>
                  <a:lnTo>
                    <a:pt x="10685570" y="741299"/>
                  </a:lnTo>
                  <a:cubicBezTo>
                    <a:pt x="10685570" y="864108"/>
                    <a:pt x="10593327" y="963676"/>
                    <a:pt x="10479553" y="963676"/>
                  </a:cubicBezTo>
                  <a:lnTo>
                    <a:pt x="206017" y="963676"/>
                  </a:lnTo>
                  <a:cubicBezTo>
                    <a:pt x="92243" y="963676"/>
                    <a:pt x="0" y="864108"/>
                    <a:pt x="0" y="741299"/>
                  </a:cubicBezTo>
                  <a:close/>
                </a:path>
              </a:pathLst>
            </a:custGeom>
            <a:solidFill>
              <a:srgbClr val="F4E8CD"/>
            </a:solidFill>
            <a:ln w="9525" cap="sq">
              <a:solidFill>
                <a:srgbClr val="F4E8C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84397" y="3614917"/>
            <a:ext cx="8889885" cy="1039470"/>
            <a:chOff x="0" y="0"/>
            <a:chExt cx="10334954" cy="12084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34954" cy="1208438"/>
            </a:xfrm>
            <a:custGeom>
              <a:avLst/>
              <a:gdLst/>
              <a:ahLst/>
              <a:cxnLst/>
              <a:rect r="r" b="b" t="t" l="l"/>
              <a:pathLst>
                <a:path h="1208438" w="10334954">
                  <a:moveTo>
                    <a:pt x="0" y="0"/>
                  </a:moveTo>
                  <a:lnTo>
                    <a:pt x="10334954" y="0"/>
                  </a:lnTo>
                  <a:lnTo>
                    <a:pt x="10334954" y="1208438"/>
                  </a:lnTo>
                  <a:lnTo>
                    <a:pt x="0" y="1208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528" r="-7941" b="-11922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0334954" cy="1227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59"/>
                </a:lnSpc>
              </a:pPr>
              <a:r>
                <a:rPr lang="en-US" sz="3049" b="true">
                  <a:solidFill>
                    <a:srgbClr val="1B1B1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Level 2 · Affective</a:t>
              </a:r>
              <a:r>
                <a:rPr lang="en-US" sz="3049">
                  <a:solidFill>
                    <a:srgbClr val="1B1B1B"/>
                  </a:solidFill>
                  <a:latin typeface="Arial"/>
                  <a:ea typeface="Arial"/>
                  <a:cs typeface="Arial"/>
                  <a:sym typeface="Arial"/>
                </a:rPr>
                <a:t>  Valence · Arousal · Dominance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4914153" y="4527272"/>
            <a:ext cx="30362" cy="253000"/>
          </a:xfrm>
          <a:prstGeom prst="line">
            <a:avLst/>
          </a:prstGeom>
          <a:ln cap="rnd" w="19050">
            <a:solidFill>
              <a:srgbClr val="722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333601" y="4758426"/>
            <a:ext cx="9191477" cy="828931"/>
            <a:chOff x="0" y="0"/>
            <a:chExt cx="10685570" cy="9636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85570" cy="963676"/>
            </a:xfrm>
            <a:custGeom>
              <a:avLst/>
              <a:gdLst/>
              <a:ahLst/>
              <a:cxnLst/>
              <a:rect r="r" b="b" t="t" l="l"/>
              <a:pathLst>
                <a:path h="963676" w="10685570">
                  <a:moveTo>
                    <a:pt x="0" y="222377"/>
                  </a:moveTo>
                  <a:cubicBezTo>
                    <a:pt x="0" y="99568"/>
                    <a:pt x="92243" y="0"/>
                    <a:pt x="206017" y="0"/>
                  </a:cubicBezTo>
                  <a:lnTo>
                    <a:pt x="10479553" y="0"/>
                  </a:lnTo>
                  <a:cubicBezTo>
                    <a:pt x="10593327" y="0"/>
                    <a:pt x="10685570" y="99568"/>
                    <a:pt x="10685570" y="222377"/>
                  </a:cubicBezTo>
                  <a:lnTo>
                    <a:pt x="10685570" y="741299"/>
                  </a:lnTo>
                  <a:cubicBezTo>
                    <a:pt x="10685570" y="864108"/>
                    <a:pt x="10593327" y="963676"/>
                    <a:pt x="10479553" y="963676"/>
                  </a:cubicBezTo>
                  <a:lnTo>
                    <a:pt x="206017" y="963676"/>
                  </a:lnTo>
                  <a:cubicBezTo>
                    <a:pt x="92243" y="963676"/>
                    <a:pt x="0" y="864108"/>
                    <a:pt x="0" y="741299"/>
                  </a:cubicBezTo>
                  <a:close/>
                </a:path>
              </a:pathLst>
            </a:custGeom>
            <a:solidFill>
              <a:srgbClr val="F4E8CD"/>
            </a:solidFill>
            <a:ln w="9525" cap="sq">
              <a:solidFill>
                <a:srgbClr val="F4E8C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84397" y="4689657"/>
            <a:ext cx="8889885" cy="966471"/>
            <a:chOff x="0" y="0"/>
            <a:chExt cx="10334954" cy="112357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334954" cy="1123573"/>
            </a:xfrm>
            <a:custGeom>
              <a:avLst/>
              <a:gdLst/>
              <a:ahLst/>
              <a:cxnLst/>
              <a:rect r="r" b="b" t="t" l="l"/>
              <a:pathLst>
                <a:path h="1123573" w="10334954">
                  <a:moveTo>
                    <a:pt x="0" y="0"/>
                  </a:moveTo>
                  <a:lnTo>
                    <a:pt x="10334954" y="0"/>
                  </a:lnTo>
                  <a:lnTo>
                    <a:pt x="10334954" y="1123573"/>
                  </a:lnTo>
                  <a:lnTo>
                    <a:pt x="0" y="11235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142" r="-7941" b="-13578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0334954" cy="11426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99"/>
                </a:lnSpc>
              </a:pPr>
              <a:r>
                <a:rPr lang="en-US" sz="2749" b="true">
                  <a:solidFill>
                    <a:srgbClr val="1B1B1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Level 3 · Cognitive Appraisal</a:t>
              </a:r>
              <a:r>
                <a:rPr lang="en-US" sz="2749">
                  <a:solidFill>
                    <a:srgbClr val="1B1B1B"/>
                  </a:solidFill>
                  <a:latin typeface="Arial"/>
                  <a:ea typeface="Arial"/>
                  <a:cs typeface="Arial"/>
                  <a:sym typeface="Arial"/>
                </a:rPr>
                <a:t>  Novelty · Goal · Coping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4914153" y="5565512"/>
            <a:ext cx="30362" cy="253000"/>
          </a:xfrm>
          <a:prstGeom prst="line">
            <a:avLst/>
          </a:prstGeom>
          <a:ln cap="rnd" w="19050">
            <a:solidFill>
              <a:srgbClr val="722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326010" y="5788473"/>
            <a:ext cx="9206658" cy="845318"/>
            <a:chOff x="0" y="0"/>
            <a:chExt cx="10703219" cy="98272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03219" cy="982726"/>
            </a:xfrm>
            <a:custGeom>
              <a:avLst/>
              <a:gdLst/>
              <a:ahLst/>
              <a:cxnLst/>
              <a:rect r="r" b="b" t="t" l="l"/>
              <a:pathLst>
                <a:path h="982726" w="10703219">
                  <a:moveTo>
                    <a:pt x="0" y="226822"/>
                  </a:moveTo>
                  <a:cubicBezTo>
                    <a:pt x="0" y="101473"/>
                    <a:pt x="94008" y="0"/>
                    <a:pt x="210135" y="0"/>
                  </a:cubicBezTo>
                  <a:lnTo>
                    <a:pt x="10493084" y="0"/>
                  </a:lnTo>
                  <a:cubicBezTo>
                    <a:pt x="10609094" y="0"/>
                    <a:pt x="10703219" y="101473"/>
                    <a:pt x="10703219" y="226822"/>
                  </a:cubicBezTo>
                  <a:lnTo>
                    <a:pt x="10703219" y="755904"/>
                  </a:lnTo>
                  <a:cubicBezTo>
                    <a:pt x="10703219" y="881126"/>
                    <a:pt x="10609211" y="982726"/>
                    <a:pt x="10493084" y="982726"/>
                  </a:cubicBezTo>
                  <a:lnTo>
                    <a:pt x="210135" y="982726"/>
                  </a:lnTo>
                  <a:cubicBezTo>
                    <a:pt x="94008" y="982726"/>
                    <a:pt x="0" y="881253"/>
                    <a:pt x="0" y="755904"/>
                  </a:cubicBezTo>
                  <a:close/>
                </a:path>
              </a:pathLst>
            </a:custGeom>
            <a:solidFill>
              <a:srgbClr val="EFDFBB"/>
            </a:solidFill>
            <a:ln w="23812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484397" y="5802128"/>
            <a:ext cx="8889885" cy="856401"/>
            <a:chOff x="0" y="0"/>
            <a:chExt cx="10334954" cy="99561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334954" cy="995610"/>
            </a:xfrm>
            <a:custGeom>
              <a:avLst/>
              <a:gdLst/>
              <a:ahLst/>
              <a:cxnLst/>
              <a:rect r="r" b="b" t="t" l="l"/>
              <a:pathLst>
                <a:path h="995610" w="10334954">
                  <a:moveTo>
                    <a:pt x="0" y="0"/>
                  </a:moveTo>
                  <a:lnTo>
                    <a:pt x="10334954" y="0"/>
                  </a:lnTo>
                  <a:lnTo>
                    <a:pt x="10334954" y="995610"/>
                  </a:lnTo>
                  <a:lnTo>
                    <a:pt x="0" y="9956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568" r="-7941" b="-16608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0334954" cy="1014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979"/>
                </a:lnSpc>
              </a:pPr>
              <a:r>
                <a:rPr lang="en-US" sz="4149" b="true">
                  <a:solidFill>
                    <a:srgbClr val="1B1B1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Confidence Estimator  P(concept)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>
            <a:off x="4914153" y="6603752"/>
            <a:ext cx="30362" cy="253000"/>
          </a:xfrm>
          <a:prstGeom prst="line">
            <a:avLst/>
          </a:prstGeom>
          <a:ln cap="rnd" w="19050">
            <a:solidFill>
              <a:srgbClr val="722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6" id="36"/>
          <p:cNvGrpSpPr/>
          <p:nvPr/>
        </p:nvGrpSpPr>
        <p:grpSpPr>
          <a:xfrm rot="0">
            <a:off x="328540" y="6829444"/>
            <a:ext cx="4465183" cy="839856"/>
            <a:chOff x="0" y="0"/>
            <a:chExt cx="5191008" cy="97637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91008" cy="976376"/>
            </a:xfrm>
            <a:custGeom>
              <a:avLst/>
              <a:gdLst/>
              <a:ahLst/>
              <a:cxnLst/>
              <a:rect r="r" b="b" t="t" l="l"/>
              <a:pathLst>
                <a:path h="976376" w="5191008">
                  <a:moveTo>
                    <a:pt x="0" y="225298"/>
                  </a:moveTo>
                  <a:cubicBezTo>
                    <a:pt x="0" y="100838"/>
                    <a:pt x="93419" y="0"/>
                    <a:pt x="208723" y="0"/>
                  </a:cubicBezTo>
                  <a:lnTo>
                    <a:pt x="4982285" y="0"/>
                  </a:lnTo>
                  <a:cubicBezTo>
                    <a:pt x="5097588" y="0"/>
                    <a:pt x="5191008" y="100838"/>
                    <a:pt x="5191008" y="225298"/>
                  </a:cubicBezTo>
                  <a:lnTo>
                    <a:pt x="5191008" y="751078"/>
                  </a:lnTo>
                  <a:cubicBezTo>
                    <a:pt x="5191008" y="875538"/>
                    <a:pt x="5097588" y="976376"/>
                    <a:pt x="4982285" y="976376"/>
                  </a:cubicBezTo>
                  <a:lnTo>
                    <a:pt x="208723" y="976376"/>
                  </a:lnTo>
                  <a:cubicBezTo>
                    <a:pt x="93419" y="976376"/>
                    <a:pt x="0" y="875538"/>
                    <a:pt x="0" y="751078"/>
                  </a:cubicBez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338661" y="6840368"/>
            <a:ext cx="4444942" cy="818007"/>
            <a:chOff x="0" y="0"/>
            <a:chExt cx="5167477" cy="9509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67477" cy="950976"/>
            </a:xfrm>
            <a:custGeom>
              <a:avLst/>
              <a:gdLst/>
              <a:ahLst/>
              <a:cxnLst/>
              <a:rect r="r" b="b" t="t" l="l"/>
              <a:pathLst>
                <a:path h="950976" w="5167477">
                  <a:moveTo>
                    <a:pt x="0" y="0"/>
                  </a:moveTo>
                  <a:lnTo>
                    <a:pt x="5167477" y="0"/>
                  </a:lnTo>
                  <a:lnTo>
                    <a:pt x="5167477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287" r="-7941" b="-6428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5167477" cy="9795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00"/>
                </a:lnSpc>
              </a:pPr>
              <a:r>
                <a:rPr lang="en-US" sz="27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Qwen LLM</a:t>
              </a:r>
              <a:r>
                <a:rPr lang="en-US" sz="27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 high confidence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062424" y="6826713"/>
            <a:ext cx="4470244" cy="845318"/>
            <a:chOff x="0" y="0"/>
            <a:chExt cx="5196891" cy="98272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96891" cy="982726"/>
            </a:xfrm>
            <a:custGeom>
              <a:avLst/>
              <a:gdLst/>
              <a:ahLst/>
              <a:cxnLst/>
              <a:rect r="r" b="b" t="t" l="l"/>
              <a:pathLst>
                <a:path h="982726" w="5196891">
                  <a:moveTo>
                    <a:pt x="0" y="226822"/>
                  </a:moveTo>
                  <a:cubicBezTo>
                    <a:pt x="0" y="101473"/>
                    <a:pt x="94008" y="0"/>
                    <a:pt x="210135" y="0"/>
                  </a:cubicBezTo>
                  <a:lnTo>
                    <a:pt x="4986756" y="0"/>
                  </a:lnTo>
                  <a:cubicBezTo>
                    <a:pt x="5102766" y="0"/>
                    <a:pt x="5196891" y="101473"/>
                    <a:pt x="5196891" y="226822"/>
                  </a:cubicBezTo>
                  <a:lnTo>
                    <a:pt x="5196891" y="755904"/>
                  </a:lnTo>
                  <a:cubicBezTo>
                    <a:pt x="5196891" y="881126"/>
                    <a:pt x="5102883" y="982726"/>
                    <a:pt x="4986756" y="982726"/>
                  </a:cubicBezTo>
                  <a:lnTo>
                    <a:pt x="210135" y="982726"/>
                  </a:lnTo>
                  <a:cubicBezTo>
                    <a:pt x="94008" y="982726"/>
                    <a:pt x="0" y="881253"/>
                    <a:pt x="0" y="755904"/>
                  </a:cubicBezTo>
                  <a:close/>
                </a:path>
              </a:pathLst>
            </a:custGeom>
            <a:solidFill>
              <a:srgbClr val="EFDFBB"/>
            </a:solidFill>
            <a:ln w="23812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5090251" y="6856752"/>
            <a:ext cx="4444942" cy="818007"/>
            <a:chOff x="0" y="0"/>
            <a:chExt cx="5167477" cy="95097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67477" cy="950976"/>
            </a:xfrm>
            <a:custGeom>
              <a:avLst/>
              <a:gdLst/>
              <a:ahLst/>
              <a:cxnLst/>
              <a:rect r="r" b="b" t="t" l="l"/>
              <a:pathLst>
                <a:path h="950976" w="5167477">
                  <a:moveTo>
                    <a:pt x="0" y="0"/>
                  </a:moveTo>
                  <a:lnTo>
                    <a:pt x="5167477" y="0"/>
                  </a:lnTo>
                  <a:lnTo>
                    <a:pt x="5167477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287" r="-7941" b="-6428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5167477" cy="970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722F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Human Reviewer</a:t>
              </a:r>
              <a:r>
                <a:rPr lang="en-US" sz="2250">
                  <a:solidFill>
                    <a:srgbClr val="1B1B1B"/>
                  </a:solidFill>
                  <a:latin typeface="Arial"/>
                  <a:ea typeface="Arial"/>
                  <a:cs typeface="Arial"/>
                  <a:sym typeface="Arial"/>
                </a:rPr>
                <a:t>  low confidence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>
            <a:off x="2545946" y="7641992"/>
            <a:ext cx="30362" cy="253000"/>
          </a:xfrm>
          <a:prstGeom prst="line">
            <a:avLst/>
          </a:prstGeom>
          <a:ln cap="rnd" w="19050">
            <a:solidFill>
              <a:srgbClr val="722F3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7" id="47"/>
          <p:cNvSpPr/>
          <p:nvPr/>
        </p:nvSpPr>
        <p:spPr>
          <a:xfrm>
            <a:off x="7282360" y="7641992"/>
            <a:ext cx="30362" cy="253000"/>
          </a:xfrm>
          <a:prstGeom prst="line">
            <a:avLst/>
          </a:prstGeom>
          <a:ln cap="rnd" w="19050">
            <a:solidFill>
              <a:srgbClr val="722F3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8" id="48"/>
          <p:cNvGrpSpPr/>
          <p:nvPr/>
        </p:nvGrpSpPr>
        <p:grpSpPr>
          <a:xfrm rot="0">
            <a:off x="328540" y="7867684"/>
            <a:ext cx="9201597" cy="839856"/>
            <a:chOff x="0" y="0"/>
            <a:chExt cx="10697336" cy="97637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697336" cy="976376"/>
            </a:xfrm>
            <a:custGeom>
              <a:avLst/>
              <a:gdLst/>
              <a:ahLst/>
              <a:cxnLst/>
              <a:rect r="r" b="b" t="t" l="l"/>
              <a:pathLst>
                <a:path h="976376" w="10697336">
                  <a:moveTo>
                    <a:pt x="0" y="225298"/>
                  </a:moveTo>
                  <a:cubicBezTo>
                    <a:pt x="0" y="100838"/>
                    <a:pt x="93419" y="0"/>
                    <a:pt x="208723" y="0"/>
                  </a:cubicBezTo>
                  <a:lnTo>
                    <a:pt x="10488613" y="0"/>
                  </a:lnTo>
                  <a:cubicBezTo>
                    <a:pt x="10603917" y="0"/>
                    <a:pt x="10697336" y="100838"/>
                    <a:pt x="10697336" y="225298"/>
                  </a:cubicBezTo>
                  <a:lnTo>
                    <a:pt x="10697336" y="751078"/>
                  </a:lnTo>
                  <a:cubicBezTo>
                    <a:pt x="10697336" y="875538"/>
                    <a:pt x="10603917" y="976376"/>
                    <a:pt x="10488613" y="976376"/>
                  </a:cubicBezTo>
                  <a:lnTo>
                    <a:pt x="208723" y="976376"/>
                  </a:lnTo>
                  <a:cubicBezTo>
                    <a:pt x="93419" y="976376"/>
                    <a:pt x="0" y="875538"/>
                    <a:pt x="0" y="751078"/>
                  </a:cubicBez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484397" y="7878608"/>
            <a:ext cx="8889885" cy="856401"/>
            <a:chOff x="0" y="0"/>
            <a:chExt cx="10334954" cy="99561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334954" cy="995610"/>
            </a:xfrm>
            <a:custGeom>
              <a:avLst/>
              <a:gdLst/>
              <a:ahLst/>
              <a:cxnLst/>
              <a:rect r="r" b="b" t="t" l="l"/>
              <a:pathLst>
                <a:path h="995610" w="10334954">
                  <a:moveTo>
                    <a:pt x="0" y="0"/>
                  </a:moveTo>
                  <a:lnTo>
                    <a:pt x="10334954" y="0"/>
                  </a:lnTo>
                  <a:lnTo>
                    <a:pt x="10334954" y="995610"/>
                  </a:lnTo>
                  <a:lnTo>
                    <a:pt x="0" y="9956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568" r="-7941" b="-16608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0334954" cy="1014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979"/>
                </a:lnSpc>
              </a:pPr>
              <a:r>
                <a:rPr lang="en-US" sz="4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Emotion Prediction + Explanation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092840" y="1638244"/>
            <a:ext cx="7646596" cy="2460139"/>
            <a:chOff x="0" y="0"/>
            <a:chExt cx="8889566" cy="2860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889543" cy="2860040"/>
            </a:xfrm>
            <a:custGeom>
              <a:avLst/>
              <a:gdLst/>
              <a:ahLst/>
              <a:cxnLst/>
              <a:rect r="r" b="b" t="t" l="l"/>
              <a:pathLst>
                <a:path h="2860040" w="8889543">
                  <a:moveTo>
                    <a:pt x="0" y="221361"/>
                  </a:moveTo>
                  <a:cubicBezTo>
                    <a:pt x="0" y="99187"/>
                    <a:pt x="91890" y="0"/>
                    <a:pt x="205075" y="0"/>
                  </a:cubicBezTo>
                  <a:lnTo>
                    <a:pt x="8684467" y="0"/>
                  </a:lnTo>
                  <a:cubicBezTo>
                    <a:pt x="8797771" y="0"/>
                    <a:pt x="8889543" y="99187"/>
                    <a:pt x="8889543" y="221361"/>
                  </a:cubicBezTo>
                  <a:lnTo>
                    <a:pt x="8889543" y="2638679"/>
                  </a:lnTo>
                  <a:cubicBezTo>
                    <a:pt x="8889543" y="2760980"/>
                    <a:pt x="8797653" y="2860040"/>
                    <a:pt x="8684467" y="2860040"/>
                  </a:cubicBezTo>
                  <a:lnTo>
                    <a:pt x="205075" y="2860040"/>
                  </a:lnTo>
                  <a:cubicBezTo>
                    <a:pt x="91890" y="2860040"/>
                    <a:pt x="0" y="2760853"/>
                    <a:pt x="0" y="2638679"/>
                  </a:cubicBez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0467300" y="1679013"/>
            <a:ext cx="6897676" cy="752761"/>
            <a:chOff x="0" y="0"/>
            <a:chExt cx="8018907" cy="87512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018907" cy="875124"/>
            </a:xfrm>
            <a:custGeom>
              <a:avLst/>
              <a:gdLst/>
              <a:ahLst/>
              <a:cxnLst/>
              <a:rect r="r" b="b" t="t" l="l"/>
              <a:pathLst>
                <a:path h="875124" w="8018907">
                  <a:moveTo>
                    <a:pt x="0" y="0"/>
                  </a:moveTo>
                  <a:lnTo>
                    <a:pt x="8018907" y="0"/>
                  </a:lnTo>
                  <a:lnTo>
                    <a:pt x="8018907" y="875124"/>
                  </a:lnTo>
                  <a:lnTo>
                    <a:pt x="0" y="8751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152" r="-7941" b="-12929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8018907" cy="8941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9"/>
                </a:lnSpc>
              </a:pPr>
              <a:r>
                <a:rPr lang="en-US" sz="36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Innovation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0467300" y="2234111"/>
            <a:ext cx="6897676" cy="172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80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Replace the opaque projection layer with a 3-level Hierarchical Concept Bottleneck inspired by Scherer's Component Process Model.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0090310" y="4309768"/>
            <a:ext cx="7651657" cy="2308292"/>
            <a:chOff x="0" y="0"/>
            <a:chExt cx="8895449" cy="268351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895425" cy="2683510"/>
            </a:xfrm>
            <a:custGeom>
              <a:avLst/>
              <a:gdLst/>
              <a:ahLst/>
              <a:cxnLst/>
              <a:rect r="r" b="b" t="t" l="l"/>
              <a:pathLst>
                <a:path h="2683510" w="8895425">
                  <a:moveTo>
                    <a:pt x="0" y="222123"/>
                  </a:moveTo>
                  <a:cubicBezTo>
                    <a:pt x="0" y="99441"/>
                    <a:pt x="92125" y="0"/>
                    <a:pt x="205781" y="0"/>
                  </a:cubicBezTo>
                  <a:lnTo>
                    <a:pt x="8689644" y="0"/>
                  </a:lnTo>
                  <a:cubicBezTo>
                    <a:pt x="8803300" y="0"/>
                    <a:pt x="8895425" y="99441"/>
                    <a:pt x="8895425" y="222123"/>
                  </a:cubicBezTo>
                  <a:lnTo>
                    <a:pt x="8895425" y="2461387"/>
                  </a:lnTo>
                  <a:cubicBezTo>
                    <a:pt x="8895425" y="2584069"/>
                    <a:pt x="8803300" y="2683510"/>
                    <a:pt x="8689644" y="2683510"/>
                  </a:cubicBezTo>
                  <a:lnTo>
                    <a:pt x="205781" y="2683510"/>
                  </a:lnTo>
                  <a:cubicBezTo>
                    <a:pt x="92125" y="2683510"/>
                    <a:pt x="0" y="2584069"/>
                    <a:pt x="0" y="2461387"/>
                  </a:cubicBezTo>
                  <a:close/>
                </a:path>
              </a:pathLst>
            </a:custGeom>
            <a:solidFill>
              <a:srgbClr val="EFDFBB"/>
            </a:solidFill>
            <a:ln w="23812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0467300" y="4332971"/>
            <a:ext cx="6897676" cy="831863"/>
            <a:chOff x="0" y="0"/>
            <a:chExt cx="8018907" cy="9670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018907" cy="967084"/>
            </a:xfrm>
            <a:custGeom>
              <a:avLst/>
              <a:gdLst/>
              <a:ahLst/>
              <a:cxnLst/>
              <a:rect r="r" b="b" t="t" l="l"/>
              <a:pathLst>
                <a:path h="967084" w="8018907">
                  <a:moveTo>
                    <a:pt x="0" y="0"/>
                  </a:moveTo>
                  <a:lnTo>
                    <a:pt x="8018907" y="0"/>
                  </a:lnTo>
                  <a:lnTo>
                    <a:pt x="8018907" y="967084"/>
                  </a:lnTo>
                  <a:lnTo>
                    <a:pt x="0" y="9670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03" r="-7941" b="-10749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8018907" cy="9861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sz="4049" b="true">
                  <a:solidFill>
                    <a:srgbClr val="722F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Human-in-the-Loop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0311829" y="5056558"/>
            <a:ext cx="7053147" cy="1426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2429" indent="-281215" lvl="1">
              <a:lnSpc>
                <a:spcPts val="3729"/>
              </a:lnSpc>
              <a:buFont typeface="Arial"/>
              <a:buChar char="•"/>
            </a:pPr>
            <a:r>
              <a:rPr lang="en-US" sz="3107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Experts can correct concepts before the explanation</a:t>
            </a:r>
          </a:p>
          <a:p>
            <a:pPr algn="l" marL="562429" indent="-281215" lvl="1">
              <a:lnSpc>
                <a:spcPts val="3729"/>
              </a:lnSpc>
              <a:buFont typeface="Arial"/>
              <a:buChar char="•"/>
            </a:pPr>
            <a:r>
              <a:rPr lang="en-US" sz="3107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Low-confidence cases are escalated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0097900" y="6834906"/>
            <a:ext cx="7636476" cy="2685179"/>
            <a:chOff x="0" y="0"/>
            <a:chExt cx="8877800" cy="31216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877777" cy="3121660"/>
            </a:xfrm>
            <a:custGeom>
              <a:avLst/>
              <a:gdLst/>
              <a:ahLst/>
              <a:cxnLst/>
              <a:rect r="r" b="b" t="t" l="l"/>
              <a:pathLst>
                <a:path h="3121660" w="8877777">
                  <a:moveTo>
                    <a:pt x="0" y="220345"/>
                  </a:moveTo>
                  <a:cubicBezTo>
                    <a:pt x="0" y="98679"/>
                    <a:pt x="91419" y="0"/>
                    <a:pt x="204134" y="0"/>
                  </a:cubicBezTo>
                  <a:lnTo>
                    <a:pt x="8673643" y="0"/>
                  </a:lnTo>
                  <a:cubicBezTo>
                    <a:pt x="8786358" y="0"/>
                    <a:pt x="8877777" y="98679"/>
                    <a:pt x="8877777" y="220345"/>
                  </a:cubicBezTo>
                  <a:lnTo>
                    <a:pt x="8877777" y="2901315"/>
                  </a:lnTo>
                  <a:cubicBezTo>
                    <a:pt x="8877777" y="3022981"/>
                    <a:pt x="8786358" y="3121660"/>
                    <a:pt x="8673643" y="3121660"/>
                  </a:cubicBezTo>
                  <a:lnTo>
                    <a:pt x="204134" y="3121660"/>
                  </a:lnTo>
                  <a:cubicBezTo>
                    <a:pt x="91419" y="3121660"/>
                    <a:pt x="0" y="3022981"/>
                    <a:pt x="0" y="2901315"/>
                  </a:cubicBezTo>
                  <a:close/>
                </a:path>
              </a:pathLst>
            </a:custGeom>
            <a:solidFill>
              <a:srgbClr val="F4E8CD"/>
            </a:solidFill>
            <a:ln w="9525" cap="sq">
              <a:solidFill>
                <a:srgbClr val="F4E8CD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0361624" y="6618060"/>
            <a:ext cx="8450759" cy="1330741"/>
            <a:chOff x="0" y="0"/>
            <a:chExt cx="8018907" cy="126273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018907" cy="1262738"/>
            </a:xfrm>
            <a:custGeom>
              <a:avLst/>
              <a:gdLst/>
              <a:ahLst/>
              <a:cxnLst/>
              <a:rect r="r" b="b" t="t" l="l"/>
              <a:pathLst>
                <a:path h="1262738" w="8018907">
                  <a:moveTo>
                    <a:pt x="0" y="0"/>
                  </a:moveTo>
                  <a:lnTo>
                    <a:pt x="8018907" y="0"/>
                  </a:lnTo>
                  <a:lnTo>
                    <a:pt x="8018907" y="1262738"/>
                  </a:lnTo>
                  <a:lnTo>
                    <a:pt x="0" y="12627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219" r="-7941" b="-58909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8018907" cy="12817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9"/>
                </a:lnSpc>
              </a:pPr>
              <a:r>
                <a:rPr lang="en-US" sz="3249" b="true">
                  <a:solidFill>
                    <a:srgbClr val="722F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Novel? First system combining: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0280410" y="7556785"/>
            <a:ext cx="7271455" cy="196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838" indent="-289919" lvl="1">
              <a:lnSpc>
                <a:spcPts val="3844"/>
              </a:lnSpc>
              <a:buFont typeface="Arial"/>
              <a:buChar char="•"/>
            </a:pPr>
            <a:r>
              <a:rPr lang="en-US" sz="3203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EEG + Hierarchical CBM</a:t>
            </a:r>
          </a:p>
          <a:p>
            <a:pPr algn="l" marL="579838" indent="-289919" lvl="1">
              <a:lnSpc>
                <a:spcPts val="3844"/>
              </a:lnSpc>
              <a:buFont typeface="Arial"/>
              <a:buChar char="•"/>
            </a:pPr>
            <a:r>
              <a:rPr lang="en-US" sz="3203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Faithfulness verification</a:t>
            </a:r>
          </a:p>
          <a:p>
            <a:pPr algn="l" marL="579838" indent="-289919" lvl="1">
              <a:lnSpc>
                <a:spcPts val="3844"/>
              </a:lnSpc>
              <a:buFont typeface="Arial"/>
              <a:buChar char="•"/>
            </a:pPr>
            <a:r>
              <a:rPr lang="en-US" sz="3203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Human-in-the-loop</a:t>
            </a:r>
          </a:p>
          <a:p>
            <a:pPr algn="l" marL="579838" indent="-289919" lvl="1">
              <a:lnSpc>
                <a:spcPts val="3844"/>
              </a:lnSpc>
              <a:buFont typeface="Arial"/>
              <a:buChar char="•"/>
            </a:pPr>
            <a:r>
              <a:rPr lang="en-US" sz="3203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Human-judge evaluation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DF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100750" y="9637682"/>
            <a:ext cx="76727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 b="true">
                <a:solidFill>
                  <a:srgbClr val="722F37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98475" y="227567"/>
            <a:ext cx="16322040" cy="1219143"/>
            <a:chOff x="0" y="0"/>
            <a:chExt cx="21762720" cy="16255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62720" cy="1625524"/>
            </a:xfrm>
            <a:custGeom>
              <a:avLst/>
              <a:gdLst/>
              <a:ahLst/>
              <a:cxnLst/>
              <a:rect r="r" b="b" t="t" l="l"/>
              <a:pathLst>
                <a:path h="1625524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25524"/>
                  </a:lnTo>
                  <a:lnTo>
                    <a:pt x="0" y="1625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491" r="0" b="-20024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762720" cy="16540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79"/>
                </a:lnSpc>
              </a:pPr>
              <a:r>
                <a:rPr lang="en-US" b="true" sz="5899" i="true">
                  <a:solidFill>
                    <a:srgbClr val="722F37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Dataset / Simulation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1096" y="1444862"/>
            <a:ext cx="726974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3126" b="true">
                <a:solidFill>
                  <a:srgbClr val="722F37"/>
                </a:solidFill>
                <a:latin typeface="Arial Bold"/>
                <a:ea typeface="Arial Bold"/>
                <a:cs typeface="Arial Bold"/>
                <a:sym typeface="Arial Bold"/>
              </a:rPr>
              <a:t>Datasets Used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311096" y="2045491"/>
          <a:ext cx="7835165" cy="2423538"/>
        </p:xfrm>
        <a:graphic>
          <a:graphicData uri="http://schemas.openxmlformats.org/drawingml/2006/table">
            <a:tbl>
              <a:tblPr/>
              <a:tblGrid>
                <a:gridCol w="2625020"/>
                <a:gridCol w="5210145"/>
              </a:tblGrid>
              <a:tr h="7279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Dataset</a:t>
                      </a:r>
                      <a:endParaRPr lang="en-US" sz="1100"/>
                    </a:p>
                  </a:txBody>
                  <a:tcPr marL="96930" marR="96930" marT="96930" marB="96930" anchor="ctr">
                    <a:lnL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3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Purpose</a:t>
                      </a:r>
                      <a:endParaRPr lang="en-US" sz="1100"/>
                    </a:p>
                  </a:txBody>
                  <a:tcPr marL="96930" marR="96930" marT="96930" marB="96930" anchor="ctr">
                    <a:lnL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37"/>
                    </a:solidFill>
                  </a:tcPr>
                </a:tc>
              </a:tr>
              <a:tr h="5651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80"/>
                        </a:lnSpc>
                        <a:defRPr/>
                      </a:pPr>
                      <a:r>
                        <a:rPr lang="en-US" sz="2067" b="true">
                          <a:solidFill>
                            <a:srgbClr val="1B1B1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SEED-VII</a:t>
                      </a:r>
                      <a:endParaRPr lang="en-US" sz="1100"/>
                    </a:p>
                  </a:txBody>
                  <a:tcPr marL="96930" marR="96930" marT="96930" marB="96930" anchor="ctr">
                    <a:lnL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80"/>
                        </a:lnSpc>
                        <a:defRPr/>
                      </a:pPr>
                      <a:r>
                        <a:rPr lang="en-US" sz="2067">
                          <a:solidFill>
                            <a:srgbClr val="1B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 training dataset</a:t>
                      </a:r>
                      <a:endParaRPr lang="en-US" sz="1100"/>
                    </a:p>
                  </a:txBody>
                  <a:tcPr marL="96930" marR="96930" marT="96930" marB="96930" anchor="ctr">
                    <a:lnL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CD"/>
                    </a:solidFill>
                  </a:tcPr>
                </a:tc>
              </a:tr>
              <a:tr h="5651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80"/>
                        </a:lnSpc>
                        <a:defRPr/>
                      </a:pPr>
                      <a:r>
                        <a:rPr lang="en-US" sz="2067" b="true">
                          <a:solidFill>
                            <a:srgbClr val="1B1B1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DEAP</a:t>
                      </a:r>
                      <a:endParaRPr lang="en-US" sz="1100"/>
                    </a:p>
                  </a:txBody>
                  <a:tcPr marL="96930" marR="96930" marT="96930" marB="96930" anchor="ctr">
                    <a:lnL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80"/>
                        </a:lnSpc>
                        <a:defRPr/>
                      </a:pPr>
                      <a:r>
                        <a:rPr lang="en-US" sz="2067">
                          <a:solidFill>
                            <a:srgbClr val="1B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Cross-corpus testing</a:t>
                      </a:r>
                      <a:endParaRPr lang="en-US" sz="1100"/>
                    </a:p>
                  </a:txBody>
                  <a:tcPr marL="96930" marR="96930" marT="96930" marB="96930" anchor="ctr">
                    <a:lnL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CD"/>
                    </a:solidFill>
                  </a:tcPr>
                </a:tc>
              </a:tr>
              <a:tr h="5651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80"/>
                        </a:lnSpc>
                        <a:defRPr/>
                      </a:pPr>
                      <a:r>
                        <a:rPr lang="en-US" sz="2067" b="true">
                          <a:solidFill>
                            <a:srgbClr val="1B1B1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DREAMER</a:t>
                      </a:r>
                      <a:endParaRPr lang="en-US" sz="1100"/>
                    </a:p>
                  </a:txBody>
                  <a:tcPr marL="96930" marR="96930" marT="96930" marB="96930" anchor="ctr">
                    <a:lnL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80"/>
                        </a:lnSpc>
                        <a:defRPr/>
                      </a:pPr>
                      <a:r>
                        <a:rPr lang="en-US" sz="2067">
                          <a:solidFill>
                            <a:srgbClr val="1B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Additional validation</a:t>
                      </a:r>
                      <a:endParaRPr lang="en-US" sz="1100"/>
                    </a:p>
                  </a:txBody>
                  <a:tcPr marL="96930" marR="96930" marT="96930" marB="96930" anchor="ctr">
                    <a:lnL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462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CD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345506" y="4694014"/>
            <a:ext cx="7876562" cy="1406493"/>
            <a:chOff x="0" y="0"/>
            <a:chExt cx="9907270" cy="17691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07270" cy="1769110"/>
            </a:xfrm>
            <a:custGeom>
              <a:avLst/>
              <a:gdLst/>
              <a:ahLst/>
              <a:cxnLst/>
              <a:rect r="r" b="b" t="t" l="l"/>
              <a:pathLst>
                <a:path h="1769110" w="9907270">
                  <a:moveTo>
                    <a:pt x="0" y="186182"/>
                  </a:moveTo>
                  <a:cubicBezTo>
                    <a:pt x="0" y="83312"/>
                    <a:pt x="83312" y="0"/>
                    <a:pt x="186182" y="0"/>
                  </a:cubicBezTo>
                  <a:lnTo>
                    <a:pt x="9721088" y="0"/>
                  </a:lnTo>
                  <a:cubicBezTo>
                    <a:pt x="9823958" y="0"/>
                    <a:pt x="9907270" y="83312"/>
                    <a:pt x="9907270" y="186182"/>
                  </a:cubicBezTo>
                  <a:lnTo>
                    <a:pt x="9907270" y="1582928"/>
                  </a:lnTo>
                  <a:cubicBezTo>
                    <a:pt x="9907270" y="1685798"/>
                    <a:pt x="9823958" y="1769110"/>
                    <a:pt x="9721088" y="1769110"/>
                  </a:cubicBezTo>
                  <a:lnTo>
                    <a:pt x="186182" y="1769110"/>
                  </a:lnTo>
                  <a:cubicBezTo>
                    <a:pt x="83312" y="1769110"/>
                    <a:pt x="0" y="1685798"/>
                    <a:pt x="0" y="1582928"/>
                  </a:cubicBezTo>
                  <a:close/>
                </a:path>
              </a:pathLst>
            </a:custGeom>
            <a:solidFill>
              <a:srgbClr val="EFDFBB"/>
            </a:solidFill>
            <a:ln w="23812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40840" y="4690539"/>
            <a:ext cx="7269741" cy="1349699"/>
            <a:chOff x="0" y="0"/>
            <a:chExt cx="9144000" cy="16976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0" cy="1697673"/>
            </a:xfrm>
            <a:custGeom>
              <a:avLst/>
              <a:gdLst/>
              <a:ahLst/>
              <a:cxnLst/>
              <a:rect r="r" b="b" t="t" l="l"/>
              <a:pathLst>
                <a:path h="1697673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697673"/>
                  </a:lnTo>
                  <a:lnTo>
                    <a:pt x="0" y="16976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860" r="0" b="-4803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144000" cy="17167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722F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Human Evaluation</a:t>
              </a:r>
            </a:p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1B1B1B"/>
                  </a:solidFill>
                  <a:latin typeface="Arial"/>
                  <a:ea typeface="Arial"/>
                  <a:cs typeface="Arial"/>
                  <a:sym typeface="Arial"/>
                </a:rPr>
                <a:t>~150 explanation pairs · 3+ expert evaluators · blind comparison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889390" y="1444862"/>
            <a:ext cx="726974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3126" b="true">
                <a:solidFill>
                  <a:srgbClr val="722F37"/>
                </a:solidFill>
                <a:latin typeface="Arial Bold"/>
                <a:ea typeface="Arial Bold"/>
                <a:cs typeface="Arial Bold"/>
                <a:sym typeface="Arial Bold"/>
              </a:rPr>
              <a:t>SEED-VII Statistics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879293" y="2035394"/>
            <a:ext cx="4236643" cy="1401444"/>
            <a:chOff x="0" y="0"/>
            <a:chExt cx="5328920" cy="1762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289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5328920">
                  <a:moveTo>
                    <a:pt x="0" y="222631"/>
                  </a:moveTo>
                  <a:cubicBezTo>
                    <a:pt x="0" y="99695"/>
                    <a:pt x="99695" y="0"/>
                    <a:pt x="222631" y="0"/>
                  </a:cubicBezTo>
                  <a:lnTo>
                    <a:pt x="5106289" y="0"/>
                  </a:lnTo>
                  <a:cubicBezTo>
                    <a:pt x="5229225" y="0"/>
                    <a:pt x="5328920" y="99695"/>
                    <a:pt x="5328920" y="222631"/>
                  </a:cubicBezTo>
                  <a:lnTo>
                    <a:pt x="5328920" y="1540129"/>
                  </a:lnTo>
                  <a:cubicBezTo>
                    <a:pt x="5328920" y="1663065"/>
                    <a:pt x="5229225" y="1762760"/>
                    <a:pt x="5106289" y="1762760"/>
                  </a:cubicBezTo>
                  <a:lnTo>
                    <a:pt x="222631" y="1762760"/>
                  </a:lnTo>
                  <a:cubicBezTo>
                    <a:pt x="99695" y="1762760"/>
                    <a:pt x="0" y="1663065"/>
                    <a:pt x="0" y="1540129"/>
                  </a:cubicBez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180180" y="2045491"/>
            <a:ext cx="2035527" cy="1381251"/>
            <a:chOff x="0" y="0"/>
            <a:chExt cx="2560320" cy="1737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603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063" t="0" r="-3706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56032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070312" y="2045491"/>
            <a:ext cx="1890133" cy="1381251"/>
            <a:chOff x="0" y="0"/>
            <a:chExt cx="2377440" cy="1737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774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760" t="0" r="-4376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37744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Subjects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313835" y="2035394"/>
            <a:ext cx="4236643" cy="1401444"/>
            <a:chOff x="0" y="0"/>
            <a:chExt cx="5328920" cy="1762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289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5328920">
                  <a:moveTo>
                    <a:pt x="0" y="222631"/>
                  </a:moveTo>
                  <a:cubicBezTo>
                    <a:pt x="0" y="99695"/>
                    <a:pt x="99695" y="0"/>
                    <a:pt x="222631" y="0"/>
                  </a:cubicBezTo>
                  <a:lnTo>
                    <a:pt x="5106289" y="0"/>
                  </a:lnTo>
                  <a:cubicBezTo>
                    <a:pt x="5229225" y="0"/>
                    <a:pt x="5328920" y="99695"/>
                    <a:pt x="5328920" y="222631"/>
                  </a:cubicBezTo>
                  <a:lnTo>
                    <a:pt x="5328920" y="1540129"/>
                  </a:lnTo>
                  <a:cubicBezTo>
                    <a:pt x="5328920" y="1663065"/>
                    <a:pt x="5229225" y="1762760"/>
                    <a:pt x="5106289" y="1762760"/>
                  </a:cubicBezTo>
                  <a:lnTo>
                    <a:pt x="222631" y="1762760"/>
                  </a:lnTo>
                  <a:cubicBezTo>
                    <a:pt x="99695" y="1762760"/>
                    <a:pt x="0" y="1663065"/>
                    <a:pt x="0" y="1540129"/>
                  </a:cubicBez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614722" y="2045491"/>
            <a:ext cx="2035527" cy="1381251"/>
            <a:chOff x="0" y="0"/>
            <a:chExt cx="2560320" cy="1737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603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063" t="0" r="-3706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256032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540228" y="2084606"/>
            <a:ext cx="1783080" cy="1303020"/>
            <a:chOff x="0" y="0"/>
            <a:chExt cx="2377440" cy="1737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774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760" t="0" r="-4376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37744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Emotion classes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879293" y="3562040"/>
            <a:ext cx="4236643" cy="1401444"/>
            <a:chOff x="0" y="0"/>
            <a:chExt cx="5328920" cy="17627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289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5328920">
                  <a:moveTo>
                    <a:pt x="0" y="222631"/>
                  </a:moveTo>
                  <a:cubicBezTo>
                    <a:pt x="0" y="99695"/>
                    <a:pt x="99695" y="0"/>
                    <a:pt x="222631" y="0"/>
                  </a:cubicBezTo>
                  <a:lnTo>
                    <a:pt x="5106289" y="0"/>
                  </a:lnTo>
                  <a:cubicBezTo>
                    <a:pt x="5229225" y="0"/>
                    <a:pt x="5328920" y="99695"/>
                    <a:pt x="5328920" y="222631"/>
                  </a:cubicBezTo>
                  <a:lnTo>
                    <a:pt x="5328920" y="1540129"/>
                  </a:lnTo>
                  <a:cubicBezTo>
                    <a:pt x="5328920" y="1663065"/>
                    <a:pt x="5229225" y="1762760"/>
                    <a:pt x="5106289" y="1762760"/>
                  </a:cubicBezTo>
                  <a:lnTo>
                    <a:pt x="222631" y="1762760"/>
                  </a:lnTo>
                  <a:cubicBezTo>
                    <a:pt x="99695" y="1762760"/>
                    <a:pt x="0" y="1663065"/>
                    <a:pt x="0" y="1540129"/>
                  </a:cubicBez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180180" y="3572137"/>
            <a:ext cx="2035527" cy="1381251"/>
            <a:chOff x="0" y="0"/>
            <a:chExt cx="2560320" cy="1737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603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063" t="0" r="-3706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256032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070312" y="3572137"/>
            <a:ext cx="1890133" cy="1381251"/>
            <a:chOff x="0" y="0"/>
            <a:chExt cx="2377440" cy="1737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774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760" t="0" r="-4376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237744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EEG channels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313835" y="3562040"/>
            <a:ext cx="4236643" cy="1401444"/>
            <a:chOff x="0" y="0"/>
            <a:chExt cx="5328920" cy="17627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289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5328920">
                  <a:moveTo>
                    <a:pt x="0" y="222631"/>
                  </a:moveTo>
                  <a:cubicBezTo>
                    <a:pt x="0" y="99695"/>
                    <a:pt x="99695" y="0"/>
                    <a:pt x="222631" y="0"/>
                  </a:cubicBezTo>
                  <a:lnTo>
                    <a:pt x="5106289" y="0"/>
                  </a:lnTo>
                  <a:cubicBezTo>
                    <a:pt x="5229225" y="0"/>
                    <a:pt x="5328920" y="99695"/>
                    <a:pt x="5328920" y="222631"/>
                  </a:cubicBezTo>
                  <a:lnTo>
                    <a:pt x="5328920" y="1540129"/>
                  </a:lnTo>
                  <a:cubicBezTo>
                    <a:pt x="5328920" y="1663065"/>
                    <a:pt x="5229225" y="1762760"/>
                    <a:pt x="5106289" y="1762760"/>
                  </a:cubicBezTo>
                  <a:lnTo>
                    <a:pt x="222631" y="1762760"/>
                  </a:lnTo>
                  <a:cubicBezTo>
                    <a:pt x="99695" y="1762760"/>
                    <a:pt x="0" y="1663065"/>
                    <a:pt x="0" y="1540129"/>
                  </a:cubicBez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614722" y="3572137"/>
            <a:ext cx="2035527" cy="1381251"/>
            <a:chOff x="0" y="0"/>
            <a:chExt cx="2560320" cy="1737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603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063" t="0" r="-3706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256032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24,444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540228" y="3611252"/>
            <a:ext cx="1783080" cy="1303020"/>
            <a:chOff x="0" y="0"/>
            <a:chExt cx="2377440" cy="17373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774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760" t="0" r="-43760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237744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Training segments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879293" y="5134934"/>
            <a:ext cx="8723689" cy="1059991"/>
            <a:chOff x="0" y="0"/>
            <a:chExt cx="10972800" cy="133327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1333274"/>
            </a:xfrm>
            <a:custGeom>
              <a:avLst/>
              <a:gdLst/>
              <a:ahLst/>
              <a:cxnLst/>
              <a:rect r="r" b="b" t="t" l="l"/>
              <a:pathLst>
                <a:path h="133327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33274"/>
                  </a:lnTo>
                  <a:lnTo>
                    <a:pt x="0" y="13332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928" r="0" b="-8779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10972800" cy="13427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i="true">
                  <a:solidFill>
                    <a:srgbClr val="60262D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Same dataset as E²-LLM, so the baseline comparison is fair.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98475" y="6552730"/>
            <a:ext cx="5619266" cy="2961127"/>
            <a:chOff x="0" y="0"/>
            <a:chExt cx="6121530" cy="3225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121529" cy="3225800"/>
            </a:xfrm>
            <a:custGeom>
              <a:avLst/>
              <a:gdLst/>
              <a:ahLst/>
              <a:cxnLst/>
              <a:rect r="r" b="b" t="t" l="l"/>
              <a:pathLst>
                <a:path h="3225800" w="6121529">
                  <a:moveTo>
                    <a:pt x="0" y="221234"/>
                  </a:moveTo>
                  <a:cubicBezTo>
                    <a:pt x="0" y="99060"/>
                    <a:pt x="85816" y="0"/>
                    <a:pt x="191655" y="0"/>
                  </a:cubicBezTo>
                  <a:lnTo>
                    <a:pt x="5929874" y="0"/>
                  </a:lnTo>
                  <a:cubicBezTo>
                    <a:pt x="6035714" y="0"/>
                    <a:pt x="6121529" y="99060"/>
                    <a:pt x="6121529" y="221234"/>
                  </a:cubicBezTo>
                  <a:lnTo>
                    <a:pt x="6121529" y="3004566"/>
                  </a:lnTo>
                  <a:cubicBezTo>
                    <a:pt x="6121529" y="3126740"/>
                    <a:pt x="6035714" y="3225800"/>
                    <a:pt x="5929874" y="3225800"/>
                  </a:cubicBezTo>
                  <a:lnTo>
                    <a:pt x="191655" y="3225800"/>
                  </a:lnTo>
                  <a:cubicBezTo>
                    <a:pt x="85816" y="3225800"/>
                    <a:pt x="0" y="3126740"/>
                    <a:pt x="0" y="3004566"/>
                  </a:cubicBez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672150" y="6806676"/>
            <a:ext cx="4871915" cy="31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b="true" sz="2019" spc="367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SIMULATION 1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72150" y="7319825"/>
            <a:ext cx="4871915" cy="637925"/>
            <a:chOff x="0" y="0"/>
            <a:chExt cx="5307380" cy="6949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07380" cy="694944"/>
            </a:xfrm>
            <a:custGeom>
              <a:avLst/>
              <a:gdLst/>
              <a:ahLst/>
              <a:cxnLst/>
              <a:rect r="r" b="b" t="t" l="l"/>
              <a:pathLst>
                <a:path h="694944" w="5307380">
                  <a:moveTo>
                    <a:pt x="0" y="0"/>
                  </a:moveTo>
                  <a:lnTo>
                    <a:pt x="5307380" y="0"/>
                  </a:lnTo>
                  <a:lnTo>
                    <a:pt x="530738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775" r="-15433" b="-12177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5307380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Cross-Corpus Generalization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672150" y="8032162"/>
            <a:ext cx="4871915" cy="73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238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 on SEED-VII, test on DEAP / DREAMER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6155913" y="6565098"/>
            <a:ext cx="5520379" cy="2948759"/>
            <a:chOff x="0" y="0"/>
            <a:chExt cx="6050915" cy="32321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50915" cy="3232150"/>
            </a:xfrm>
            <a:custGeom>
              <a:avLst/>
              <a:gdLst/>
              <a:ahLst/>
              <a:cxnLst/>
              <a:rect r="r" b="b" t="t" l="l"/>
              <a:pathLst>
                <a:path h="3232150" w="6050915">
                  <a:moveTo>
                    <a:pt x="0" y="221615"/>
                  </a:moveTo>
                  <a:cubicBezTo>
                    <a:pt x="0" y="99187"/>
                    <a:pt x="84858" y="0"/>
                    <a:pt x="189600" y="0"/>
                  </a:cubicBezTo>
                  <a:lnTo>
                    <a:pt x="5861315" y="0"/>
                  </a:lnTo>
                  <a:cubicBezTo>
                    <a:pt x="5966057" y="0"/>
                    <a:pt x="6050915" y="99187"/>
                    <a:pt x="6050915" y="221615"/>
                  </a:cubicBezTo>
                  <a:lnTo>
                    <a:pt x="6050915" y="3010535"/>
                  </a:lnTo>
                  <a:cubicBezTo>
                    <a:pt x="6050915" y="3132963"/>
                    <a:pt x="5966057" y="3232150"/>
                    <a:pt x="5861315" y="3232150"/>
                  </a:cubicBezTo>
                  <a:lnTo>
                    <a:pt x="189600" y="3232150"/>
                  </a:lnTo>
                  <a:cubicBezTo>
                    <a:pt x="84858" y="3232150"/>
                    <a:pt x="0" y="3132963"/>
                    <a:pt x="0" y="3010535"/>
                  </a:cubicBezTo>
                  <a:close/>
                </a:path>
              </a:pathLst>
            </a:custGeom>
            <a:solidFill>
              <a:srgbClr val="EFDFBB"/>
            </a:solidFill>
            <a:ln w="23812" cap="sq">
              <a:solidFill>
                <a:srgbClr val="722F37"/>
              </a:solidFill>
              <a:prstDash val="solid"/>
              <a:miter/>
            </a:ln>
          </p:spPr>
        </p:sp>
      </p:grpSp>
      <p:sp>
        <p:nvSpPr>
          <p:cNvPr name="TextBox 58" id="58"/>
          <p:cNvSpPr txBox="true"/>
          <p:nvPr/>
        </p:nvSpPr>
        <p:spPr>
          <a:xfrm rot="0">
            <a:off x="6525161" y="6820324"/>
            <a:ext cx="4781883" cy="31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b="true" sz="2007" spc="364">
                <a:solidFill>
                  <a:srgbClr val="722F37"/>
                </a:solidFill>
                <a:latin typeface="Arial Bold"/>
                <a:ea typeface="Arial Bold"/>
                <a:cs typeface="Arial Bold"/>
                <a:sym typeface="Arial Bold"/>
              </a:rPr>
              <a:t>SIMULATION 2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6525161" y="7330385"/>
            <a:ext cx="4781883" cy="634012"/>
            <a:chOff x="0" y="0"/>
            <a:chExt cx="5241446" cy="69494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241446" cy="694944"/>
            </a:xfrm>
            <a:custGeom>
              <a:avLst/>
              <a:gdLst/>
              <a:ahLst/>
              <a:cxnLst/>
              <a:rect r="r" b="b" t="t" l="l"/>
              <a:pathLst>
                <a:path h="694944" w="5241446">
                  <a:moveTo>
                    <a:pt x="0" y="0"/>
                  </a:moveTo>
                  <a:lnTo>
                    <a:pt x="5241446" y="0"/>
                  </a:lnTo>
                  <a:lnTo>
                    <a:pt x="524144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775" r="-16885" b="-12177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5241446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22F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Counterfactual Perturbation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6525161" y="8038295"/>
            <a:ext cx="4781883" cy="108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372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Flip positive to negative valence; check whether the explanation changes accordingly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2015379" y="6552730"/>
            <a:ext cx="5447633" cy="2961127"/>
            <a:chOff x="0" y="0"/>
            <a:chExt cx="5934556" cy="3225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934556" cy="3225800"/>
            </a:xfrm>
            <a:custGeom>
              <a:avLst/>
              <a:gdLst/>
              <a:ahLst/>
              <a:cxnLst/>
              <a:rect r="r" b="b" t="t" l="l"/>
              <a:pathLst>
                <a:path h="3225800" w="5934556">
                  <a:moveTo>
                    <a:pt x="0" y="221234"/>
                  </a:moveTo>
                  <a:cubicBezTo>
                    <a:pt x="0" y="99060"/>
                    <a:pt x="83195" y="0"/>
                    <a:pt x="185802" y="0"/>
                  </a:cubicBezTo>
                  <a:lnTo>
                    <a:pt x="5748755" y="0"/>
                  </a:lnTo>
                  <a:cubicBezTo>
                    <a:pt x="5851361" y="0"/>
                    <a:pt x="5934556" y="99060"/>
                    <a:pt x="5934556" y="221234"/>
                  </a:cubicBezTo>
                  <a:lnTo>
                    <a:pt x="5934556" y="3004566"/>
                  </a:lnTo>
                  <a:cubicBezTo>
                    <a:pt x="5934556" y="3126740"/>
                    <a:pt x="5851361" y="3225800"/>
                    <a:pt x="5748755" y="3225800"/>
                  </a:cubicBezTo>
                  <a:lnTo>
                    <a:pt x="185802" y="3225800"/>
                  </a:lnTo>
                  <a:cubicBezTo>
                    <a:pt x="83195" y="3225800"/>
                    <a:pt x="0" y="3126740"/>
                    <a:pt x="0" y="3004566"/>
                  </a:cubicBez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sp>
        <p:nvSpPr>
          <p:cNvPr name="TextBox 65" id="65"/>
          <p:cNvSpPr txBox="true"/>
          <p:nvPr/>
        </p:nvSpPr>
        <p:spPr>
          <a:xfrm rot="0">
            <a:off x="12377640" y="6806676"/>
            <a:ext cx="4723110" cy="31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b="true" sz="2019" spc="367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SIMULATION 3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2377640" y="7319825"/>
            <a:ext cx="4723110" cy="637925"/>
            <a:chOff x="0" y="0"/>
            <a:chExt cx="5145273" cy="69494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145273" cy="694944"/>
            </a:xfrm>
            <a:custGeom>
              <a:avLst/>
              <a:gdLst/>
              <a:ahLst/>
              <a:cxnLst/>
              <a:rect r="r" b="b" t="t" l="l"/>
              <a:pathLst>
                <a:path h="694944" w="5145273">
                  <a:moveTo>
                    <a:pt x="0" y="0"/>
                  </a:moveTo>
                  <a:lnTo>
                    <a:pt x="5145273" y="0"/>
                  </a:lnTo>
                  <a:lnTo>
                    <a:pt x="5145273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775" r="-19070" b="-12177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5145273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Ablation Study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2377640" y="8032162"/>
            <a:ext cx="4723110" cy="73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238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Flat projection vs 1-, 2-, 3-level CBM: contribution of each level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DF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06735" y="9631317"/>
            <a:ext cx="58978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 b="true">
                <a:solidFill>
                  <a:srgbClr val="722F37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05740" y="112451"/>
            <a:ext cx="17876520" cy="1219144"/>
            <a:chOff x="0" y="0"/>
            <a:chExt cx="23835360" cy="16255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835359" cy="1625526"/>
            </a:xfrm>
            <a:custGeom>
              <a:avLst/>
              <a:gdLst/>
              <a:ahLst/>
              <a:cxnLst/>
              <a:rect r="r" b="b" t="t" l="l"/>
              <a:pathLst>
                <a:path h="1625526" w="23835359">
                  <a:moveTo>
                    <a:pt x="0" y="0"/>
                  </a:moveTo>
                  <a:lnTo>
                    <a:pt x="23835359" y="0"/>
                  </a:lnTo>
                  <a:lnTo>
                    <a:pt x="23835359" y="1625526"/>
                  </a:lnTo>
                  <a:lnTo>
                    <a:pt x="0" y="16255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491" r="8695" b="-20024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3835360" cy="16541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80"/>
                </a:lnSpc>
              </a:pPr>
              <a:r>
                <a:rPr lang="en-US" b="true" sz="5900" i="true">
                  <a:solidFill>
                    <a:srgbClr val="722F37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Comparison with SOTA Idea and Expected Result</a:t>
              </a: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05740" y="1354157"/>
          <a:ext cx="11885446" cy="8784487"/>
        </p:xfrm>
        <a:graphic>
          <a:graphicData uri="http://schemas.openxmlformats.org/drawingml/2006/table">
            <a:tbl>
              <a:tblPr/>
              <a:tblGrid>
                <a:gridCol w="2462074"/>
                <a:gridCol w="4411737"/>
                <a:gridCol w="5011634"/>
              </a:tblGrid>
              <a:tr h="9739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37"/>
                        </a:lnSpc>
                        <a:defRPr/>
                      </a:pPr>
                      <a:r>
                        <a:rPr lang="en-US" sz="3614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Aspect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3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37"/>
                        </a:lnSpc>
                        <a:defRPr/>
                      </a:pPr>
                      <a:r>
                        <a:rPr lang="en-US" sz="3614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E²-LLM (SOTA)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3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37"/>
                        </a:lnSpc>
                        <a:defRPr/>
                      </a:pPr>
                      <a:r>
                        <a:rPr lang="en-US" sz="3614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H-CBM-EEG (Ours)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37"/>
                    </a:solidFill>
                  </a:tcPr>
                </a:tc>
              </a:tr>
              <a:tr h="12317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6"/>
                        </a:lnSpc>
                        <a:defRPr/>
                      </a:pPr>
                      <a:r>
                        <a:rPr lang="en-US" sz="2480" b="true">
                          <a:solidFill>
                            <a:srgbClr val="1B1B1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Projection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Flat 2-layer MLP + GELU, opaque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60262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3-level hierarchical concept bottleneck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FBB"/>
                    </a:solidFill>
                  </a:tcPr>
                </a:tc>
              </a:tr>
              <a:tr h="16518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7"/>
                        </a:lnSpc>
                        <a:defRPr/>
                      </a:pPr>
                      <a:r>
                        <a:rPr lang="en-US" sz="2481" b="true">
                          <a:solidFill>
                            <a:srgbClr val="1B1B1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Interpretability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Intermediate representation has no meaning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60262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Concepts at 3 levels (neuro, affect, appraisal)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FBB"/>
                    </a:solidFill>
                  </a:tcPr>
                </a:tc>
              </a:tr>
              <a:tr h="12317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6"/>
                        </a:lnSpc>
                        <a:defRPr/>
                      </a:pPr>
                      <a:r>
                        <a:rPr lang="en-US" sz="2480" b="true">
                          <a:solidFill>
                            <a:srgbClr val="1B1B1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Faithfulness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Chain-of-thought only, never verified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60262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FaithScore via counterfactual perturbation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FBB"/>
                    </a:solidFill>
                  </a:tcPr>
                </a:tc>
              </a:tr>
              <a:tr h="12317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6"/>
                        </a:lnSpc>
                        <a:defRPr/>
                      </a:pPr>
                      <a:r>
                        <a:rPr lang="en-US" sz="2480" b="true">
                          <a:solidFill>
                            <a:srgbClr val="1B1B1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Human validation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None (stated limitation)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60262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Blind human judges, 3+, Cohen's Kappa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FBB"/>
                    </a:solidFill>
                  </a:tcPr>
                </a:tc>
              </a:tr>
              <a:tr h="12317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6"/>
                        </a:lnSpc>
                        <a:defRPr/>
                      </a:pPr>
                      <a:r>
                        <a:rPr lang="en-US" sz="2480" b="true">
                          <a:solidFill>
                            <a:srgbClr val="1B1B1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Oversight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None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60262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Clinician intervention + confidence escalation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FBB"/>
                    </a:solidFill>
                  </a:tcPr>
                </a:tc>
              </a:tr>
              <a:tr h="12317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6"/>
                        </a:lnSpc>
                        <a:defRPr/>
                      </a:pPr>
                      <a:r>
                        <a:rPr lang="en-US" sz="2480" b="true">
                          <a:solidFill>
                            <a:srgbClr val="1B1B1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Evaluation data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SEED-VII only (20 subjects)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60262D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SEED-VII → DEAP / DREAMER</a:t>
                      </a:r>
                      <a:endParaRPr lang="en-US" sz="1100"/>
                    </a:p>
                  </a:txBody>
                  <a:tcPr marL="103136" marR="103136" marT="103136" marB="103136" anchor="ctr">
                    <a:lnL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487">
                      <a:solidFill>
                        <a:srgbClr val="EFD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FBB"/>
                    </a:solidFill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12242138" y="1265170"/>
            <a:ext cx="5654385" cy="7756659"/>
            <a:chOff x="0" y="0"/>
            <a:chExt cx="6684233" cy="9169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84210" cy="9169400"/>
            </a:xfrm>
            <a:custGeom>
              <a:avLst/>
              <a:gdLst/>
              <a:ahLst/>
              <a:cxnLst/>
              <a:rect r="r" b="b" t="t" l="l"/>
              <a:pathLst>
                <a:path h="9169400" w="6684210">
                  <a:moveTo>
                    <a:pt x="0" y="220218"/>
                  </a:moveTo>
                  <a:cubicBezTo>
                    <a:pt x="0" y="98679"/>
                    <a:pt x="93756" y="0"/>
                    <a:pt x="209232" y="0"/>
                  </a:cubicBezTo>
                  <a:lnTo>
                    <a:pt x="6474977" y="0"/>
                  </a:lnTo>
                  <a:cubicBezTo>
                    <a:pt x="6590574" y="0"/>
                    <a:pt x="6684210" y="98679"/>
                    <a:pt x="6684210" y="220218"/>
                  </a:cubicBezTo>
                  <a:lnTo>
                    <a:pt x="6684210" y="8949182"/>
                  </a:lnTo>
                  <a:cubicBezTo>
                    <a:pt x="6684210" y="9070848"/>
                    <a:pt x="6590453" y="9169400"/>
                    <a:pt x="6474977" y="9169400"/>
                  </a:cubicBezTo>
                  <a:lnTo>
                    <a:pt x="209232" y="9169400"/>
                  </a:lnTo>
                  <a:cubicBezTo>
                    <a:pt x="93756" y="9169400"/>
                    <a:pt x="0" y="9070721"/>
                    <a:pt x="0" y="8949182"/>
                  </a:cubicBez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693303" y="1581368"/>
            <a:ext cx="475205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730" spc="682">
                <a:solidFill>
                  <a:srgbClr val="F4E8CD"/>
                </a:solidFill>
                <a:latin typeface="Arial Bold"/>
                <a:ea typeface="Arial Bold"/>
                <a:cs typeface="Arial Bold"/>
                <a:sym typeface="Arial Bold"/>
              </a:rPr>
              <a:t>EXPECTED RESULT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693303" y="2009993"/>
            <a:ext cx="931727" cy="980648"/>
            <a:chOff x="0" y="0"/>
            <a:chExt cx="1101425" cy="11592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1425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01425">
                  <a:moveTo>
                    <a:pt x="0" y="579628"/>
                  </a:moveTo>
                  <a:cubicBezTo>
                    <a:pt x="0" y="259461"/>
                    <a:pt x="246518" y="0"/>
                    <a:pt x="550713" y="0"/>
                  </a:cubicBezTo>
                  <a:cubicBezTo>
                    <a:pt x="854908" y="0"/>
                    <a:pt x="1101425" y="259461"/>
                    <a:pt x="1101425" y="579628"/>
                  </a:cubicBezTo>
                  <a:cubicBezTo>
                    <a:pt x="1101425" y="899795"/>
                    <a:pt x="854908" y="1159256"/>
                    <a:pt x="550713" y="1159256"/>
                  </a:cubicBezTo>
                  <a:cubicBezTo>
                    <a:pt x="246518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EFDFBB"/>
            </a:solidFill>
            <a:ln w="19050" cap="sq">
              <a:solidFill>
                <a:srgbClr val="EFDFB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703510" y="2009993"/>
            <a:ext cx="911313" cy="959161"/>
            <a:chOff x="0" y="0"/>
            <a:chExt cx="1077293" cy="11338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7293" cy="1133856"/>
            </a:xfrm>
            <a:custGeom>
              <a:avLst/>
              <a:gdLst/>
              <a:ahLst/>
              <a:cxnLst/>
              <a:rect r="r" b="b" t="t" l="l"/>
              <a:pathLst>
                <a:path h="1133856" w="1077293">
                  <a:moveTo>
                    <a:pt x="0" y="0"/>
                  </a:moveTo>
                  <a:lnTo>
                    <a:pt x="1077293" y="0"/>
                  </a:lnTo>
                  <a:lnTo>
                    <a:pt x="1077293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414" t="0" r="-87665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77293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79"/>
                </a:lnSpc>
              </a:pPr>
              <a:r>
                <a:rPr lang="en-US" sz="2649" b="true">
                  <a:solidFill>
                    <a:srgbClr val="722F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RQ1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879398" y="2087286"/>
            <a:ext cx="3576168" cy="2587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1"/>
              </a:lnSpc>
            </a:pPr>
            <a:r>
              <a:rPr lang="en-US" sz="28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Accuracy is comparable or better, with improved cross-corpus generalization over the flat projection.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713718" y="4740534"/>
            <a:ext cx="931727" cy="980648"/>
            <a:chOff x="0" y="0"/>
            <a:chExt cx="1101425" cy="11592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1425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01425">
                  <a:moveTo>
                    <a:pt x="0" y="579628"/>
                  </a:moveTo>
                  <a:cubicBezTo>
                    <a:pt x="0" y="259461"/>
                    <a:pt x="246518" y="0"/>
                    <a:pt x="550713" y="0"/>
                  </a:cubicBezTo>
                  <a:cubicBezTo>
                    <a:pt x="854908" y="0"/>
                    <a:pt x="1101425" y="259461"/>
                    <a:pt x="1101425" y="579628"/>
                  </a:cubicBezTo>
                  <a:cubicBezTo>
                    <a:pt x="1101425" y="899795"/>
                    <a:pt x="854908" y="1159256"/>
                    <a:pt x="550713" y="1159256"/>
                  </a:cubicBezTo>
                  <a:cubicBezTo>
                    <a:pt x="246518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EFDFBB"/>
            </a:solidFill>
            <a:ln w="19050" cap="sq">
              <a:solidFill>
                <a:srgbClr val="EFDFB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713718" y="4762021"/>
            <a:ext cx="911313" cy="959161"/>
            <a:chOff x="0" y="0"/>
            <a:chExt cx="1077293" cy="11338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7293" cy="1133856"/>
            </a:xfrm>
            <a:custGeom>
              <a:avLst/>
              <a:gdLst/>
              <a:ahLst/>
              <a:cxnLst/>
              <a:rect r="r" b="b" t="t" l="l"/>
              <a:pathLst>
                <a:path h="1133856" w="1077293">
                  <a:moveTo>
                    <a:pt x="0" y="0"/>
                  </a:moveTo>
                  <a:lnTo>
                    <a:pt x="1077293" y="0"/>
                  </a:lnTo>
                  <a:lnTo>
                    <a:pt x="1077293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414" t="0" r="-87665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77293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79"/>
                </a:lnSpc>
              </a:pPr>
              <a:r>
                <a:rPr lang="en-US" sz="2649" b="true">
                  <a:solidFill>
                    <a:srgbClr val="722F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RQ2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879398" y="4752496"/>
            <a:ext cx="3576168" cy="172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1"/>
              </a:lnSpc>
            </a:pPr>
            <a:r>
              <a:rPr lang="en-US" sz="28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Higher FaithScore: explanations change when a concept is flipped.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693303" y="6677121"/>
            <a:ext cx="931727" cy="980648"/>
            <a:chOff x="0" y="0"/>
            <a:chExt cx="1101425" cy="11592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1425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01425">
                  <a:moveTo>
                    <a:pt x="0" y="579628"/>
                  </a:moveTo>
                  <a:cubicBezTo>
                    <a:pt x="0" y="259461"/>
                    <a:pt x="246518" y="0"/>
                    <a:pt x="550713" y="0"/>
                  </a:cubicBezTo>
                  <a:cubicBezTo>
                    <a:pt x="854908" y="0"/>
                    <a:pt x="1101425" y="259461"/>
                    <a:pt x="1101425" y="579628"/>
                  </a:cubicBezTo>
                  <a:cubicBezTo>
                    <a:pt x="1101425" y="899795"/>
                    <a:pt x="854908" y="1159256"/>
                    <a:pt x="550713" y="1159256"/>
                  </a:cubicBezTo>
                  <a:cubicBezTo>
                    <a:pt x="246518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EFDFBB"/>
            </a:solidFill>
            <a:ln w="19050" cap="sq">
              <a:solidFill>
                <a:srgbClr val="EFDFB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703510" y="6687864"/>
            <a:ext cx="911313" cy="959161"/>
            <a:chOff x="0" y="0"/>
            <a:chExt cx="1077293" cy="11338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7293" cy="1133856"/>
            </a:xfrm>
            <a:custGeom>
              <a:avLst/>
              <a:gdLst/>
              <a:ahLst/>
              <a:cxnLst/>
              <a:rect r="r" b="b" t="t" l="l"/>
              <a:pathLst>
                <a:path h="1133856" w="1077293">
                  <a:moveTo>
                    <a:pt x="0" y="0"/>
                  </a:moveTo>
                  <a:lnTo>
                    <a:pt x="1077293" y="0"/>
                  </a:lnTo>
                  <a:lnTo>
                    <a:pt x="1077293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414" t="0" r="-87665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077293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79"/>
                </a:lnSpc>
              </a:pPr>
              <a:r>
                <a:rPr lang="en-US" sz="2649" b="true">
                  <a:solidFill>
                    <a:srgbClr val="722F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RQ3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879398" y="6600987"/>
            <a:ext cx="3576168" cy="215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1"/>
              </a:lnSpc>
            </a:pPr>
            <a:r>
              <a:rPr lang="en-US" sz="28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Higher human ratings for trust and clinical use; low confidence flags wrong predictions.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DF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86366" y="9591675"/>
            <a:ext cx="58978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 b="true">
                <a:solidFill>
                  <a:srgbClr val="722F37"/>
                </a:solidFill>
                <a:latin typeface="Arial Bold"/>
                <a:ea typeface="Arial Bold"/>
                <a:cs typeface="Arial Bold"/>
                <a:sym typeface="Arial Bold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71271" y="137216"/>
            <a:ext cx="16322040" cy="1219144"/>
            <a:chOff x="0" y="0"/>
            <a:chExt cx="21762720" cy="16255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62720" cy="1625526"/>
            </a:xfrm>
            <a:custGeom>
              <a:avLst/>
              <a:gdLst/>
              <a:ahLst/>
              <a:cxnLst/>
              <a:rect r="r" b="b" t="t" l="l"/>
              <a:pathLst>
                <a:path h="1625526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25526"/>
                  </a:lnTo>
                  <a:lnTo>
                    <a:pt x="0" y="16255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491" r="0" b="-20024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762720" cy="16541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80"/>
                </a:lnSpc>
              </a:pPr>
              <a:r>
                <a:rPr lang="en-US" b="true" sz="5900" i="true">
                  <a:solidFill>
                    <a:srgbClr val="722F37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Research Impact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47885" y="1337310"/>
            <a:ext cx="8605959" cy="608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894" b="true">
                <a:solidFill>
                  <a:srgbClr val="722F37"/>
                </a:solidFill>
                <a:latin typeface="Arial Bold"/>
                <a:ea typeface="Arial Bold"/>
                <a:cs typeface="Arial Bold"/>
                <a:sym typeface="Arial Bold"/>
              </a:rPr>
              <a:t>Our 4 Core Contributions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37924" y="2052457"/>
            <a:ext cx="4083727" cy="2692739"/>
            <a:chOff x="0" y="0"/>
            <a:chExt cx="4753476" cy="3134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53501" cy="3134360"/>
            </a:xfrm>
            <a:custGeom>
              <a:avLst/>
              <a:gdLst/>
              <a:ahLst/>
              <a:cxnLst/>
              <a:rect r="r" b="b" t="t" l="l"/>
              <a:pathLst>
                <a:path h="3134360" w="4753501">
                  <a:moveTo>
                    <a:pt x="0" y="221234"/>
                  </a:moveTo>
                  <a:cubicBezTo>
                    <a:pt x="0" y="99060"/>
                    <a:pt x="90435" y="0"/>
                    <a:pt x="201971" y="0"/>
                  </a:cubicBezTo>
                  <a:lnTo>
                    <a:pt x="4551528" y="0"/>
                  </a:lnTo>
                  <a:cubicBezTo>
                    <a:pt x="4663064" y="0"/>
                    <a:pt x="4753501" y="99060"/>
                    <a:pt x="4753501" y="221234"/>
                  </a:cubicBezTo>
                  <a:lnTo>
                    <a:pt x="4753501" y="2913126"/>
                  </a:lnTo>
                  <a:cubicBezTo>
                    <a:pt x="4753501" y="3035300"/>
                    <a:pt x="4663064" y="3134360"/>
                    <a:pt x="4551528" y="3134360"/>
                  </a:cubicBezTo>
                  <a:lnTo>
                    <a:pt x="201971" y="3134360"/>
                  </a:lnTo>
                  <a:cubicBezTo>
                    <a:pt x="90435" y="3134360"/>
                    <a:pt x="0" y="3035300"/>
                    <a:pt x="0" y="2913126"/>
                  </a:cubicBez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34055" y="2052457"/>
            <a:ext cx="3490075" cy="1108044"/>
            <a:chOff x="0" y="0"/>
            <a:chExt cx="4062462" cy="12897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2462" cy="1289768"/>
            </a:xfrm>
            <a:custGeom>
              <a:avLst/>
              <a:gdLst/>
              <a:ahLst/>
              <a:cxnLst/>
              <a:rect r="r" b="b" t="t" l="l"/>
              <a:pathLst>
                <a:path h="1289768" w="4062462">
                  <a:moveTo>
                    <a:pt x="0" y="0"/>
                  </a:moveTo>
                  <a:lnTo>
                    <a:pt x="4062462" y="0"/>
                  </a:lnTo>
                  <a:lnTo>
                    <a:pt x="4062462" y="1289768"/>
                  </a:lnTo>
                  <a:lnTo>
                    <a:pt x="0" y="1289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44" r="-9537" b="-1330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4062462" cy="13088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  Hierarchical Concept Bottleneck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34055" y="3051913"/>
            <a:ext cx="3785350" cy="126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sz="274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Raw EEG features become structured psychological concepts.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886105" y="2049729"/>
            <a:ext cx="4088707" cy="2698195"/>
            <a:chOff x="0" y="0"/>
            <a:chExt cx="4759273" cy="31407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59298" cy="3140710"/>
            </a:xfrm>
            <a:custGeom>
              <a:avLst/>
              <a:gdLst/>
              <a:ahLst/>
              <a:cxnLst/>
              <a:rect r="r" b="b" t="t" l="l"/>
              <a:pathLst>
                <a:path h="3140710" w="4759298">
                  <a:moveTo>
                    <a:pt x="0" y="221742"/>
                  </a:moveTo>
                  <a:cubicBezTo>
                    <a:pt x="0" y="99314"/>
                    <a:pt x="90667" y="0"/>
                    <a:pt x="202434" y="0"/>
                  </a:cubicBezTo>
                  <a:lnTo>
                    <a:pt x="4556861" y="0"/>
                  </a:lnTo>
                  <a:cubicBezTo>
                    <a:pt x="4668629" y="0"/>
                    <a:pt x="4759298" y="99314"/>
                    <a:pt x="4759298" y="221742"/>
                  </a:cubicBezTo>
                  <a:lnTo>
                    <a:pt x="4759298" y="2918968"/>
                  </a:lnTo>
                  <a:cubicBezTo>
                    <a:pt x="4759298" y="3041396"/>
                    <a:pt x="4668629" y="3140710"/>
                    <a:pt x="4556861" y="3140710"/>
                  </a:cubicBezTo>
                  <a:lnTo>
                    <a:pt x="202434" y="3140710"/>
                  </a:lnTo>
                  <a:cubicBezTo>
                    <a:pt x="90667" y="3140710"/>
                    <a:pt x="0" y="3041396"/>
                    <a:pt x="0" y="2918968"/>
                  </a:cubicBezTo>
                  <a:close/>
                </a:path>
              </a:pathLst>
            </a:custGeom>
            <a:solidFill>
              <a:srgbClr val="EFDFBB"/>
            </a:solidFill>
            <a:ln w="23812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185421" y="2049729"/>
            <a:ext cx="3490075" cy="1021233"/>
            <a:chOff x="0" y="0"/>
            <a:chExt cx="4062462" cy="1188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2462" cy="1188720"/>
            </a:xfrm>
            <a:custGeom>
              <a:avLst/>
              <a:gdLst/>
              <a:ahLst/>
              <a:cxnLst/>
              <a:rect r="r" b="b" t="t" l="l"/>
              <a:pathLst>
                <a:path h="1188720" w="4062462">
                  <a:moveTo>
                    <a:pt x="0" y="0"/>
                  </a:moveTo>
                  <a:lnTo>
                    <a:pt x="4062462" y="0"/>
                  </a:lnTo>
                  <a:lnTo>
                    <a:pt x="4062462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41" r="-9537" b="-2294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062462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722F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  FaithScore (New Metric)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185421" y="3051913"/>
            <a:ext cx="3490075" cy="136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3"/>
              </a:lnSpc>
            </a:pPr>
            <a:r>
              <a:rPr lang="en-US" sz="2978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Faithful explanation changes ÷ total perturbations.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39266" y="2052457"/>
            <a:ext cx="4083727" cy="2692739"/>
            <a:chOff x="0" y="0"/>
            <a:chExt cx="4753476" cy="3134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53501" cy="3134360"/>
            </a:xfrm>
            <a:custGeom>
              <a:avLst/>
              <a:gdLst/>
              <a:ahLst/>
              <a:cxnLst/>
              <a:rect r="r" b="b" t="t" l="l"/>
              <a:pathLst>
                <a:path h="3134360" w="4753501">
                  <a:moveTo>
                    <a:pt x="0" y="221234"/>
                  </a:moveTo>
                  <a:cubicBezTo>
                    <a:pt x="0" y="99060"/>
                    <a:pt x="90435" y="0"/>
                    <a:pt x="201971" y="0"/>
                  </a:cubicBezTo>
                  <a:lnTo>
                    <a:pt x="4551528" y="0"/>
                  </a:lnTo>
                  <a:cubicBezTo>
                    <a:pt x="4663064" y="0"/>
                    <a:pt x="4753501" y="99060"/>
                    <a:pt x="4753501" y="221234"/>
                  </a:cubicBezTo>
                  <a:lnTo>
                    <a:pt x="4753501" y="2913126"/>
                  </a:lnTo>
                  <a:cubicBezTo>
                    <a:pt x="4753501" y="3035300"/>
                    <a:pt x="4663064" y="3134360"/>
                    <a:pt x="4551528" y="3134360"/>
                  </a:cubicBezTo>
                  <a:lnTo>
                    <a:pt x="201971" y="3134360"/>
                  </a:lnTo>
                  <a:cubicBezTo>
                    <a:pt x="90435" y="3134360"/>
                    <a:pt x="0" y="3035300"/>
                    <a:pt x="0" y="2913126"/>
                  </a:cubicBez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536092" y="2049729"/>
            <a:ext cx="3490075" cy="1058116"/>
            <a:chOff x="0" y="0"/>
            <a:chExt cx="4062462" cy="12316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62462" cy="1231651"/>
            </a:xfrm>
            <a:custGeom>
              <a:avLst/>
              <a:gdLst/>
              <a:ahLst/>
              <a:cxnLst/>
              <a:rect r="r" b="b" t="t" l="l"/>
              <a:pathLst>
                <a:path h="1231651" w="4062462">
                  <a:moveTo>
                    <a:pt x="0" y="0"/>
                  </a:moveTo>
                  <a:lnTo>
                    <a:pt x="4062462" y="0"/>
                  </a:lnTo>
                  <a:lnTo>
                    <a:pt x="4062462" y="1231651"/>
                  </a:lnTo>
                  <a:lnTo>
                    <a:pt x="0" y="1231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41" r="-9537" b="-1865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062462" cy="12507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  Dual Human-in-the-Loop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536092" y="3141451"/>
            <a:ext cx="3490075" cy="129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86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Clinician intervention and confidence escalation.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587447" y="2049729"/>
            <a:ext cx="4088707" cy="2698195"/>
            <a:chOff x="0" y="0"/>
            <a:chExt cx="4759273" cy="31407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59298" cy="3140710"/>
            </a:xfrm>
            <a:custGeom>
              <a:avLst/>
              <a:gdLst/>
              <a:ahLst/>
              <a:cxnLst/>
              <a:rect r="r" b="b" t="t" l="l"/>
              <a:pathLst>
                <a:path h="3140710" w="4759298">
                  <a:moveTo>
                    <a:pt x="0" y="221742"/>
                  </a:moveTo>
                  <a:cubicBezTo>
                    <a:pt x="0" y="99314"/>
                    <a:pt x="90667" y="0"/>
                    <a:pt x="202434" y="0"/>
                  </a:cubicBezTo>
                  <a:lnTo>
                    <a:pt x="4556861" y="0"/>
                  </a:lnTo>
                  <a:cubicBezTo>
                    <a:pt x="4668629" y="0"/>
                    <a:pt x="4759298" y="99314"/>
                    <a:pt x="4759298" y="221742"/>
                  </a:cubicBezTo>
                  <a:lnTo>
                    <a:pt x="4759298" y="2918968"/>
                  </a:lnTo>
                  <a:cubicBezTo>
                    <a:pt x="4759298" y="3041396"/>
                    <a:pt x="4668629" y="3140710"/>
                    <a:pt x="4556861" y="3140710"/>
                  </a:cubicBezTo>
                  <a:lnTo>
                    <a:pt x="202434" y="3140710"/>
                  </a:lnTo>
                  <a:cubicBezTo>
                    <a:pt x="90667" y="3140710"/>
                    <a:pt x="0" y="3041396"/>
                    <a:pt x="0" y="2918968"/>
                  </a:cubicBezTo>
                  <a:close/>
                </a:path>
              </a:pathLst>
            </a:custGeom>
            <a:solidFill>
              <a:srgbClr val="EFDFBB"/>
            </a:solidFill>
            <a:ln w="23812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886763" y="2102386"/>
            <a:ext cx="3490075" cy="1058116"/>
            <a:chOff x="0" y="0"/>
            <a:chExt cx="4062462" cy="12316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62462" cy="1231651"/>
            </a:xfrm>
            <a:custGeom>
              <a:avLst/>
              <a:gdLst/>
              <a:ahLst/>
              <a:cxnLst/>
              <a:rect r="r" b="b" t="t" l="l"/>
              <a:pathLst>
                <a:path h="1231651" w="4062462">
                  <a:moveTo>
                    <a:pt x="0" y="0"/>
                  </a:moveTo>
                  <a:lnTo>
                    <a:pt x="4062462" y="0"/>
                  </a:lnTo>
                  <a:lnTo>
                    <a:pt x="4062462" y="1231651"/>
                  </a:lnTo>
                  <a:lnTo>
                    <a:pt x="0" y="1231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41" r="-9537" b="-1865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062462" cy="12507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722F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  Human-Judge Evaluation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3710377" y="3051913"/>
            <a:ext cx="3965777" cy="129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863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Experts rate faithfulness, plausibility, clarity, actionability.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42905" y="5121612"/>
            <a:ext cx="8424437" cy="2446159"/>
            <a:chOff x="0" y="0"/>
            <a:chExt cx="9806081" cy="2847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806132" cy="2847340"/>
            </a:xfrm>
            <a:custGeom>
              <a:avLst/>
              <a:gdLst/>
              <a:ahLst/>
              <a:cxnLst/>
              <a:rect r="r" b="b" t="t" l="l"/>
              <a:pathLst>
                <a:path h="2847340" w="9806132">
                  <a:moveTo>
                    <a:pt x="0" y="220472"/>
                  </a:moveTo>
                  <a:cubicBezTo>
                    <a:pt x="0" y="98679"/>
                    <a:pt x="90087" y="0"/>
                    <a:pt x="201275" y="0"/>
                  </a:cubicBezTo>
                  <a:lnTo>
                    <a:pt x="9604852" y="0"/>
                  </a:lnTo>
                  <a:cubicBezTo>
                    <a:pt x="9716040" y="0"/>
                    <a:pt x="9806132" y="98679"/>
                    <a:pt x="9806132" y="220472"/>
                  </a:cubicBezTo>
                  <a:lnTo>
                    <a:pt x="9806132" y="2626868"/>
                  </a:lnTo>
                  <a:cubicBezTo>
                    <a:pt x="9806132" y="2748661"/>
                    <a:pt x="9716040" y="2847340"/>
                    <a:pt x="9604852" y="2847340"/>
                  </a:cubicBezTo>
                  <a:lnTo>
                    <a:pt x="201275" y="2847340"/>
                  </a:lnTo>
                  <a:cubicBezTo>
                    <a:pt x="90087" y="2847340"/>
                    <a:pt x="0" y="2748661"/>
                    <a:pt x="0" y="2626868"/>
                  </a:cubicBezTo>
                  <a:close/>
                </a:path>
              </a:pathLst>
            </a:custGeom>
            <a:solidFill>
              <a:srgbClr val="F4E8CD"/>
            </a:solidFill>
            <a:ln w="9525" cap="sq">
              <a:solidFill>
                <a:srgbClr val="F4E8CD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70749" y="5121612"/>
            <a:ext cx="7697313" cy="713211"/>
            <a:chOff x="0" y="0"/>
            <a:chExt cx="8959706" cy="8301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959707" cy="830180"/>
            </a:xfrm>
            <a:custGeom>
              <a:avLst/>
              <a:gdLst/>
              <a:ahLst/>
              <a:cxnLst/>
              <a:rect r="r" b="b" t="t" l="l"/>
              <a:pathLst>
                <a:path h="830180" w="8959707">
                  <a:moveTo>
                    <a:pt x="0" y="0"/>
                  </a:moveTo>
                  <a:lnTo>
                    <a:pt x="8959707" y="0"/>
                  </a:lnTo>
                  <a:lnTo>
                    <a:pt x="8959707" y="830180"/>
                  </a:lnTo>
                  <a:lnTo>
                    <a:pt x="0" y="8301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8" r="-9537" b="-16889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8959706" cy="84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39"/>
                </a:lnSpc>
              </a:pPr>
              <a:r>
                <a:rPr lang="en-US" sz="3449" b="true">
                  <a:solidFill>
                    <a:srgbClr val="722F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Scientific Impact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487862" y="5596097"/>
            <a:ext cx="8534523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7310" indent="-288655" lvl="1">
              <a:lnSpc>
                <a:spcPts val="3827"/>
              </a:lnSpc>
              <a:buFont typeface="Arial"/>
              <a:buChar char="•"/>
            </a:pPr>
            <a:r>
              <a:rPr lang="en-US" sz="3189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First hierarchical CBM for EEG-LLM systems</a:t>
            </a:r>
          </a:p>
          <a:p>
            <a:pPr algn="l" marL="577310" indent="-288655" lvl="1">
              <a:lnSpc>
                <a:spcPts val="3827"/>
              </a:lnSpc>
              <a:buFont typeface="Arial"/>
              <a:buChar char="•"/>
            </a:pPr>
            <a:r>
              <a:rPr lang="en-US" sz="3189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First FaithScore benchmark</a:t>
            </a:r>
          </a:p>
          <a:p>
            <a:pPr algn="l" marL="577310" indent="-288655" lvl="1">
              <a:lnSpc>
                <a:spcPts val="3827"/>
              </a:lnSpc>
              <a:buFont typeface="Arial"/>
              <a:buChar char="•"/>
            </a:pPr>
            <a:r>
              <a:rPr lang="en-US" sz="3189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First human-validated EEG-LLM framework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244246" y="5121612"/>
            <a:ext cx="8424437" cy="2446159"/>
            <a:chOff x="0" y="0"/>
            <a:chExt cx="9806081" cy="28473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806132" cy="2847340"/>
            </a:xfrm>
            <a:custGeom>
              <a:avLst/>
              <a:gdLst/>
              <a:ahLst/>
              <a:cxnLst/>
              <a:rect r="r" b="b" t="t" l="l"/>
              <a:pathLst>
                <a:path h="2847340" w="9806132">
                  <a:moveTo>
                    <a:pt x="0" y="220472"/>
                  </a:moveTo>
                  <a:cubicBezTo>
                    <a:pt x="0" y="98679"/>
                    <a:pt x="90087" y="0"/>
                    <a:pt x="201275" y="0"/>
                  </a:cubicBezTo>
                  <a:lnTo>
                    <a:pt x="9604852" y="0"/>
                  </a:lnTo>
                  <a:cubicBezTo>
                    <a:pt x="9716040" y="0"/>
                    <a:pt x="9806132" y="98679"/>
                    <a:pt x="9806132" y="220472"/>
                  </a:cubicBezTo>
                  <a:lnTo>
                    <a:pt x="9806132" y="2626868"/>
                  </a:lnTo>
                  <a:cubicBezTo>
                    <a:pt x="9806132" y="2748661"/>
                    <a:pt x="9716040" y="2847340"/>
                    <a:pt x="9604852" y="2847340"/>
                  </a:cubicBezTo>
                  <a:lnTo>
                    <a:pt x="201275" y="2847340"/>
                  </a:lnTo>
                  <a:cubicBezTo>
                    <a:pt x="90087" y="2847340"/>
                    <a:pt x="0" y="2748661"/>
                    <a:pt x="0" y="2626868"/>
                  </a:cubicBezTo>
                  <a:close/>
                </a:path>
              </a:pathLst>
            </a:custGeom>
            <a:solidFill>
              <a:srgbClr val="F4E8CD"/>
            </a:solidFill>
            <a:ln w="9525" cap="sq">
              <a:solidFill>
                <a:srgbClr val="F4E8CD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607808" y="5143500"/>
            <a:ext cx="7697313" cy="713212"/>
            <a:chOff x="0" y="0"/>
            <a:chExt cx="8959706" cy="83018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959707" cy="830182"/>
            </a:xfrm>
            <a:custGeom>
              <a:avLst/>
              <a:gdLst/>
              <a:ahLst/>
              <a:cxnLst/>
              <a:rect r="r" b="b" t="t" l="l"/>
              <a:pathLst>
                <a:path h="830182" w="8959707">
                  <a:moveTo>
                    <a:pt x="0" y="0"/>
                  </a:moveTo>
                  <a:lnTo>
                    <a:pt x="8959707" y="0"/>
                  </a:lnTo>
                  <a:lnTo>
                    <a:pt x="8959707" y="830182"/>
                  </a:lnTo>
                  <a:lnTo>
                    <a:pt x="0" y="830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7" r="-9537" b="-16889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8959706" cy="849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sz="3450" b="true">
                  <a:solidFill>
                    <a:srgbClr val="722F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Clinical Impact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9239266" y="5806248"/>
            <a:ext cx="7784168" cy="1451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6508" indent="-288254" lvl="1">
              <a:lnSpc>
                <a:spcPts val="3822"/>
              </a:lnSpc>
              <a:buFont typeface="Arial"/>
              <a:buChar char="•"/>
            </a:pPr>
            <a:r>
              <a:rPr lang="en-US" sz="3185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Transparent AI decisions</a:t>
            </a:r>
          </a:p>
          <a:p>
            <a:pPr algn="l" marL="576508" indent="-288254" lvl="1">
              <a:lnSpc>
                <a:spcPts val="3822"/>
              </a:lnSpc>
              <a:buFont typeface="Arial"/>
              <a:buChar char="•"/>
            </a:pPr>
            <a:r>
              <a:rPr lang="en-US" sz="3185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Human oversight</a:t>
            </a:r>
          </a:p>
          <a:p>
            <a:pPr algn="l" marL="576508" indent="-288254" lvl="1">
              <a:lnSpc>
                <a:spcPts val="3822"/>
              </a:lnSpc>
              <a:buFont typeface="Arial"/>
              <a:buChar char="•"/>
            </a:pPr>
            <a:r>
              <a:rPr lang="en-US" sz="3185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Increased trust in neuro-AI systems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537924" y="7944188"/>
            <a:ext cx="17135739" cy="1435837"/>
            <a:chOff x="0" y="0"/>
            <a:chExt cx="19946074" cy="16713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946051" cy="1671320"/>
            </a:xfrm>
            <a:custGeom>
              <a:avLst/>
              <a:gdLst/>
              <a:ahLst/>
              <a:cxnLst/>
              <a:rect r="r" b="b" t="t" l="l"/>
              <a:pathLst>
                <a:path h="1671320" w="19946051">
                  <a:moveTo>
                    <a:pt x="0" y="0"/>
                  </a:moveTo>
                  <a:lnTo>
                    <a:pt x="19946051" y="0"/>
                  </a:lnTo>
                  <a:lnTo>
                    <a:pt x="19946051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722F37"/>
            </a:solidFill>
            <a:ln w="19050" cap="sq">
              <a:solidFill>
                <a:srgbClr val="722F37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70749" y="7955099"/>
            <a:ext cx="16779010" cy="1419669"/>
            <a:chOff x="0" y="0"/>
            <a:chExt cx="19530839" cy="165250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530840" cy="1652501"/>
            </a:xfrm>
            <a:custGeom>
              <a:avLst/>
              <a:gdLst/>
              <a:ahLst/>
              <a:cxnLst/>
              <a:rect r="r" b="b" t="t" l="l"/>
              <a:pathLst>
                <a:path h="1652501" w="19530840">
                  <a:moveTo>
                    <a:pt x="0" y="0"/>
                  </a:moveTo>
                  <a:lnTo>
                    <a:pt x="19530840" y="0"/>
                  </a:lnTo>
                  <a:lnTo>
                    <a:pt x="19530840" y="1652501"/>
                  </a:lnTo>
                  <a:lnTo>
                    <a:pt x="0" y="1652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581" r="-6118" b="-19418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9530839" cy="1662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 b="true">
                  <a:solidFill>
                    <a:srgbClr val="F4E8C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FUTURE VISION  </a:t>
              </a:r>
              <a:r>
                <a:rPr lang="en-US" sz="39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Towards clinically trustworthy Brain-AI systems that explain, justify, and verify every emotional prediction.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DAHXUq-mmFs</dc:identifier>
  <dcterms:modified xsi:type="dcterms:W3CDTF">2011-08-01T06:04:30Z</dcterms:modified>
  <cp:revision>1</cp:revision>
  <dc:title>H-CBM-EEG_Presentation.pptx</dc:title>
</cp:coreProperties>
</file>